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=========================================================================</a:t>
            </a:r>
          </a:p>
          <a:p>
            <a:r>
              <a:rPr sz="1200">
                <a:latin typeface="Calibri"/>
              </a:rPr>
              <a:t>COMO USAR ESTAS ANOTAÇÕES  (leia uma vez, antes de estudar os slides)</a:t>
            </a:r>
          </a:p>
          <a:p/>
          <a:p>
            <a:r>
              <a:rPr sz="1200">
                <a:latin typeface="Calibri"/>
              </a:rPr>
              <a:t>Cada slide traz quatro blocos:</a:t>
            </a:r>
          </a:p>
          <a:p>
            <a:r>
              <a:rPr sz="1200">
                <a:latin typeface="Calibri"/>
              </a:rPr>
              <a:t>  · TEMPO      — quanto falar naquele slide. A soma dá 14 minutos, com 1 de</a:t>
            </a:r>
          </a:p>
          <a:p>
            <a:r>
              <a:rPr sz="1200">
                <a:latin typeface="Calibri"/>
              </a:rPr>
              <a:t>                 folga sobre o limite de 15 do enunciado. Treine com cronômetro.</a:t>
            </a:r>
          </a:p>
          <a:p>
            <a:r>
              <a:rPr sz="1200">
                <a:latin typeface="Calibri"/>
              </a:rPr>
              <a:t>  · ROTEIRO    — o que dizer, já escrito em voz falada. Não é para decorar:</a:t>
            </a:r>
          </a:p>
          <a:p>
            <a:r>
              <a:rPr sz="1200">
                <a:latin typeface="Calibri"/>
              </a:rPr>
              <a:t>                 é para você entender o encadeamento e falar com as suas palavras.</a:t>
            </a:r>
          </a:p>
          <a:p>
            <a:r>
              <a:rPr sz="1200">
                <a:latin typeface="Calibri"/>
              </a:rPr>
              <a:t>  · ENTENDA    — o vocabulário técnico do slide, explicado do zero. É a parte</a:t>
            </a:r>
          </a:p>
          <a:p>
            <a:r>
              <a:rPr sz="1200">
                <a:latin typeface="Calibri"/>
              </a:rPr>
              <a:t>                 para estudar antes; ninguém precisa ter escrito o código para</a:t>
            </a:r>
          </a:p>
          <a:p>
            <a:r>
              <a:rPr sz="1200">
                <a:latin typeface="Calibri"/>
              </a:rPr>
              <a:t>                 apresentar bem, mas precisa entender o que está mostrando.</a:t>
            </a:r>
          </a:p>
          <a:p>
            <a:r>
              <a:rPr sz="1200">
                <a:latin typeface="Calibri"/>
              </a:rPr>
              <a:t>  · SE PERGUNTAREM — as perguntas prováveis, com a resposta honesta já pronta.</a:t>
            </a:r>
          </a:p>
          <a:p/>
          <a:p>
            <a:r>
              <a:rPr sz="1200">
                <a:latin typeface="Calibri"/>
              </a:rPr>
              <a:t>Regra de ouro da banca: quando não souber, diga que não sabe e aponte onde a</a:t>
            </a:r>
          </a:p>
          <a:p>
            <a:r>
              <a:rPr sz="1200">
                <a:latin typeface="Calibri"/>
              </a:rPr>
              <a:t>resposta está (README, docs/arquitetura.md, docs/requisitos/). O professor pediu</a:t>
            </a:r>
          </a:p>
          <a:p>
            <a:r>
              <a:rPr sz="1200">
                <a:latin typeface="Calibri"/>
              </a:rPr>
              <a:t>uma MAQUETE funcional — assumir uma lacuna conta a favor, inventar conta contra.</a:t>
            </a:r>
          </a:p>
          <a:p/>
          <a:p>
            <a:r>
              <a:rPr sz="1200">
                <a:latin typeface="Calibri"/>
              </a:rPr>
              <a:t>No modo Apresentador do PowerPoint (ou do Google Apresentações) estas notas</a:t>
            </a:r>
          </a:p>
          <a:p>
            <a:r>
              <a:rPr sz="1200">
                <a:latin typeface="Calibri"/>
              </a:rPr>
              <a:t>aparecem só para você; a plateia vê apenas o slide.</a:t>
            </a:r>
          </a:p>
          <a:p>
            <a:r>
              <a:rPr sz="1200">
                <a:latin typeface="Calibri"/>
              </a:rPr>
              <a:t>=========================================================================</a:t>
            </a:r>
          </a:p>
          <a:p/>
          <a:p>
            <a:r>
              <a:rPr sz="1200">
                <a:latin typeface="Calibri"/>
              </a:rPr>
              <a:t>[TEMPO: 60s — este slide dá o tom, não corra]</a:t>
            </a:r>
          </a:p>
          <a:p/>
          <a:p>
            <a:r>
              <a:rPr sz="1200">
                <a:latin typeface="Calibri"/>
              </a:rPr>
              <a:t>ROTEIRO — o que dizer</a:t>
            </a:r>
          </a:p>
          <a:p>
            <a:r>
              <a:rPr sz="1200">
                <a:latin typeface="Calibri"/>
              </a:rPr>
              <a:t>"Somos o Grupo 12. Nosso projeto é um detector de anomalias em métricas de servidores.</a:t>
            </a:r>
          </a:p>
          <a:p>
            <a:r>
              <a:rPr sz="1200">
                <a:latin typeface="Calibri"/>
              </a:rPr>
              <a:t>O problema: um servidor publica dezenas de métricas ao mesmo tempo — no nosso dataset, 38.</a:t>
            </a:r>
          </a:p>
          <a:p>
            <a:r>
              <a:rPr sz="1200">
                <a:latin typeface="Calibri"/>
              </a:rPr>
              <a:t>Hoje o monitoramento típico coloca um limiar fixo em cada métrica separadamente: se a CPU</a:t>
            </a:r>
          </a:p>
          <a:p>
            <a:r>
              <a:rPr sz="1200">
                <a:latin typeface="Calibri"/>
              </a:rPr>
              <a:t>passar de 90%, alerta. O que esse esquema não pega é a degradação que só existe na</a:t>
            </a:r>
          </a:p>
          <a:p>
            <a:r>
              <a:rPr sz="1200">
                <a:latin typeface="Calibri"/>
              </a:rPr>
              <a:t>COMBINAÇÃO — nenhuma métrica sozinha estoura o limite dela, mas o conjunto está num estado</a:t>
            </a:r>
          </a:p>
          <a:p>
            <a:r>
              <a:rPr sz="1200">
                <a:latin typeface="Calibri"/>
              </a:rPr>
              <a:t>que a máquina nunca exibiu antes. É esse tipo de falha silenciosa que nos motivou.</a:t>
            </a:r>
          </a:p>
          <a:p>
            <a:r>
              <a:rPr sz="1200">
                <a:latin typeface="Calibri"/>
              </a:rPr>
              <a:t>O objetivo é sinalizar automaticamente essas janelas de tempo, e o papel da IA é aprender o</a:t>
            </a:r>
          </a:p>
          <a:p>
            <a:r>
              <a:rPr sz="1200">
                <a:latin typeface="Calibri"/>
              </a:rPr>
              <a:t>que é 'normal' a partir dos próprios dados, em vez de alguém escolher limiares na mão."</a:t>
            </a:r>
          </a:p>
          <a:p/>
          <a:p>
            <a:r>
              <a:rPr sz="1200">
                <a:latin typeface="Calibri"/>
              </a:rPr>
              <a:t>ENTENDA — os conceitos deste slide</a:t>
            </a:r>
          </a:p>
          <a:p>
            <a:r>
              <a:rPr sz="1200">
                <a:latin typeface="Calibri"/>
              </a:rPr>
              <a:t>· SÉRIE TEMPORAL MULTIVARIADA: uma tabela em que cada linha é um instante no tempo e cada</a:t>
            </a:r>
          </a:p>
          <a:p>
            <a:r>
              <a:rPr sz="1200">
                <a:latin typeface="Calibri"/>
              </a:rPr>
              <a:t>  coluna é uma métrica. "Multivariada" = várias métricas medidas ao mesmo tempo, e o que</a:t>
            </a:r>
          </a:p>
          <a:p>
            <a:r>
              <a:rPr sz="1200">
                <a:latin typeface="Calibri"/>
              </a:rPr>
              <a:t>  interessa é como elas se movem em conjunto.</a:t>
            </a:r>
          </a:p>
          <a:p>
            <a:r>
              <a:rPr sz="1200">
                <a:latin typeface="Calibri"/>
              </a:rPr>
              <a:t>· AUTOENCODER: uma rede neural que aprende a copiar a entrada na saída, mas passando por um</a:t>
            </a:r>
          </a:p>
          <a:p>
            <a:r>
              <a:rPr sz="1200">
                <a:latin typeface="Calibri"/>
              </a:rPr>
              <a:t>  "funil" no meio (uma camada bem menor). Como o funil não deixa passar tudo, a rede é</a:t>
            </a:r>
          </a:p>
          <a:p>
            <a:r>
              <a:rPr sz="1200">
                <a:latin typeface="Calibri"/>
              </a:rPr>
              <a:t>  obrigada a guardar só os padrões que mais se repetem. Treinada apenas com dados normais,</a:t>
            </a:r>
          </a:p>
          <a:p>
            <a:r>
              <a:rPr sz="1200">
                <a:latin typeface="Calibri"/>
              </a:rPr>
              <a:t>  ela fica boa em reconstruir o normal e ruim em reconstruir qualquer outra coisa.</a:t>
            </a:r>
          </a:p>
          <a:p>
            <a:r>
              <a:rPr sz="1200">
                <a:latin typeface="Calibri"/>
              </a:rPr>
              <a:t>· ERRO DE RECONSTRUÇÃO: a diferença entre o que entrou e o que a rede devolveu. Erro baixo =</a:t>
            </a:r>
          </a:p>
          <a:p>
            <a:r>
              <a:rPr sz="1200">
                <a:latin typeface="Calibri"/>
              </a:rPr>
              <a:t>  "isto se parece com o que eu aprendi". Erro alto = "isto é estranho". É o nosso escore.</a:t>
            </a:r>
          </a:p>
          <a:p>
            <a:r>
              <a:rPr sz="1200">
                <a:latin typeface="Calibri"/>
              </a:rPr>
              <a:t>· NÃO SUPERVISIONADO: treinamos SEM dizer à rede o que é anomalia. Ela só vê exemplos normais.</a:t>
            </a:r>
          </a:p>
          <a:p>
            <a:r>
              <a:rPr sz="1200">
                <a:latin typeface="Calibri"/>
              </a:rPr>
              <a:t>· SRE: Site Reliability Engineer — a pessoa de plantão responsável por manter o sistema no ar.</a:t>
            </a:r>
          </a:p>
          <a:p/>
          <a:p>
            <a:r>
              <a:rPr sz="1200">
                <a:latin typeface="Calibri"/>
              </a:rPr>
              <a:t>SE PERGUNTAREM</a:t>
            </a:r>
          </a:p>
          <a:p>
            <a:r>
              <a:rPr sz="1200">
                <a:latin typeface="Calibri"/>
              </a:rPr>
              <a:t>P: "Por que não usar um limiar fixo, que é mais simples?"</a:t>
            </a:r>
          </a:p>
          <a:p>
            <a:r>
              <a:rPr sz="1200">
                <a:latin typeface="Calibri"/>
              </a:rPr>
              <a:t>R: "Essa é a alternativa honesta e ela cobre o caso fácil. O que ela não cobre é a anomalia</a:t>
            </a:r>
          </a:p>
          <a:p>
            <a:r>
              <a:rPr sz="1200">
                <a:latin typeface="Calibri"/>
              </a:rPr>
              <a:t>   combinada — e foi exatamente essa lacuna que registramos como requisito RNF-04. Somos</a:t>
            </a:r>
          </a:p>
          <a:p>
            <a:r>
              <a:rPr sz="1200">
                <a:latin typeface="Calibri"/>
              </a:rPr>
              <a:t>   transparentes num ponto: não medimos esse baseline, então nossa justificativa para o</a:t>
            </a:r>
          </a:p>
          <a:p>
            <a:r>
              <a:rPr sz="1200">
                <a:latin typeface="Calibri"/>
              </a:rPr>
              <a:t>   modelo está argumentada, não demonstrada. Está na reflexão crítica do documento."</a:t>
            </a:r>
          </a:p>
          <a:p>
            <a:r>
              <a:rPr sz="1200">
                <a:latin typeface="Calibri"/>
              </a:rPr>
              <a:t>P: "Quem é o cliente real?"</a:t>
            </a:r>
          </a:p>
          <a:p>
            <a:r>
              <a:rPr sz="1200">
                <a:latin typeface="Calibri"/>
              </a:rPr>
              <a:t>R: "É um stakeholder construído para o exercício, e declaramos isso no documento. O SMD é</a:t>
            </a:r>
          </a:p>
          <a:p>
            <a:r>
              <a:rPr sz="1200">
                <a:latin typeface="Calibri"/>
              </a:rPr>
              <a:t>   anonimizado, não há cliente por trás. Preferimos assumir a hipótese a inventar um cliente."</a:t>
            </a:r>
          </a:p>
          <a:p/>
          <a:p>
            <a:r>
              <a:rPr sz="1200">
                <a:latin typeface="Calibri"/>
              </a:rPr>
              <a:t>NÃO ESQUEÇA: ler os nomes completos não é necessário, mas o link do repositório precisa</a:t>
            </a:r>
          </a:p>
          <a:p>
            <a:r>
              <a:rPr sz="1200">
                <a:latin typeface="Calibri"/>
              </a:rPr>
              <a:t>aparecer na tela — é exigência do enunciado.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[TEMPO: 60s]</a:t>
            </a:r>
          </a:p>
          <a:p/>
          <a:p>
            <a:r>
              <a:rPr sz="1200">
                <a:latin typeface="Calibri"/>
              </a:rPr>
              <a:t>ROTEIRO — o que dizer</a:t>
            </a:r>
          </a:p>
          <a:p>
            <a:r>
              <a:rPr sz="1200">
                <a:latin typeface="Calibri"/>
              </a:rPr>
              <a:t>"A base é o SMD, Server Machine Dataset, do trabalho OmniAnomaly, disponível publicamente no</a:t>
            </a:r>
          </a:p>
          <a:p>
            <a:r>
              <a:rPr sz="1200">
                <a:latin typeface="Calibri"/>
              </a:rPr>
              <a:t>Kaggle. São métricas reais de servidores, anonimizadas. O dataset tem 28 máquinas; nós</a:t>
            </a:r>
          </a:p>
          <a:p>
            <a:r>
              <a:rPr sz="1200">
                <a:latin typeface="Calibri"/>
              </a:rPr>
              <a:t>recortamos uma delas, a machine-1-1, porque cada máquina já é uma série multivariada</a:t>
            </a:r>
          </a:p>
          <a:p>
            <a:r>
              <a:rPr sz="1200">
                <a:latin typeface="Calibri"/>
              </a:rPr>
              <a:t>completa — o recorte reduz o custo sem simplificar o problema.</a:t>
            </a:r>
          </a:p>
          <a:p>
            <a:r>
              <a:rPr sz="1200">
                <a:latin typeface="Calibri"/>
              </a:rPr>
              <a:t>São 28.479 instantes de treino e 28.479 de teste, com 38 métricas em cada instante. No teste,</a:t>
            </a:r>
          </a:p>
          <a:p>
            <a:r>
              <a:rPr sz="1200">
                <a:latin typeface="Calibri"/>
              </a:rPr>
              <a:t>9,46% dos instantes são anômalos: essa é a taxa base, e ela vai importar na hora de julgar a</a:t>
            </a:r>
          </a:p>
          <a:p>
            <a:r>
              <a:rPr sz="1200">
                <a:latin typeface="Calibri"/>
              </a:rPr>
              <a:t>precisão.</a:t>
            </a:r>
          </a:p>
          <a:p>
            <a:r>
              <a:rPr sz="1200">
                <a:latin typeface="Calibri"/>
              </a:rPr>
              <a:t>A entrada do sistema é uma janela de 50 instantes consecutivos; a saída é um escore de</a:t>
            </a:r>
          </a:p>
          <a:p>
            <a:r>
              <a:rPr sz="1200">
                <a:latin typeface="Calibri"/>
              </a:rPr>
              <a:t>anomalia e a classificação binária daquela janela."</a:t>
            </a:r>
          </a:p>
          <a:p/>
          <a:p>
            <a:r>
              <a:rPr sz="1200">
                <a:latin typeface="Calibri"/>
              </a:rPr>
              <a:t>ENTENDA — os conceitos deste slide</a:t>
            </a:r>
          </a:p>
          <a:p>
            <a:r>
              <a:rPr sz="1200">
                <a:latin typeface="Calibri"/>
              </a:rPr>
              <a:t>· JANELA DESLIZANTE: em vez de olhar um instante isolado, olhamos 50 instantes seguidos. A</a:t>
            </a:r>
          </a:p>
          <a:p>
            <a:r>
              <a:rPr sz="1200">
                <a:latin typeface="Calibri"/>
              </a:rPr>
              <a:t>  janela anda de 1 em 1 instante, então janelas vizinhas se sobrepõem bastante. Isso dá</a:t>
            </a:r>
          </a:p>
          <a:p>
            <a:r>
              <a:rPr sz="1200">
                <a:latin typeface="Calibri"/>
              </a:rPr>
              <a:t>  contexto temporal ao modelo: um pico isolado é diferente de uma subida sustentada.</a:t>
            </a:r>
          </a:p>
          <a:p>
            <a:r>
              <a:rPr sz="1200">
                <a:latin typeface="Calibri"/>
              </a:rPr>
              <a:t>· PADRONIZAÇÃO / Z-SCORE: transformar cada métrica para média 0 e desvio 1, com a fórmula</a:t>
            </a:r>
          </a:p>
          <a:p>
            <a:r>
              <a:rPr sz="1200">
                <a:latin typeface="Calibri"/>
              </a:rPr>
              <a:t>  (x − média) ÷ desvio. Sem isso, uma métrica que varia de 0 a 1.000.000 dominaria o erro e</a:t>
            </a:r>
          </a:p>
          <a:p>
            <a:r>
              <a:rPr sz="1200">
                <a:latin typeface="Calibri"/>
              </a:rPr>
              <a:t>  outra que varia de 0 a 1 seria ignorada.</a:t>
            </a:r>
          </a:p>
          <a:p>
            <a:r>
              <a:rPr sz="1200">
                <a:latin typeface="Calibri"/>
              </a:rPr>
              <a:t>· TAXA BASE: a proporção de anomalias que existe no conjunto. Aqui, 9,46%. É a régua da</a:t>
            </a:r>
          </a:p>
          <a:p>
            <a:r>
              <a:rPr sz="1200">
                <a:latin typeface="Calibri"/>
              </a:rPr>
              <a:t>  precisão: um detector que chutasse aleatoriamente acertaria ~9,46%. Ficar acima disso é o</a:t>
            </a:r>
          </a:p>
          <a:p>
            <a:r>
              <a:rPr sz="1200">
                <a:latin typeface="Calibri"/>
              </a:rPr>
              <a:t>  mínimo para o modelo ter valor — e é exatamente assim que nosso RNF-01 está redigido.</a:t>
            </a:r>
          </a:p>
          <a:p>
            <a:r>
              <a:rPr sz="1200">
                <a:latin typeface="Calibri"/>
              </a:rPr>
              <a:t>· POR QUE O TREINO NÃO TEM ANOMALIA: é uma característica do SMD. A primeira metade da série</a:t>
            </a:r>
          </a:p>
          <a:p>
            <a:r>
              <a:rPr sz="1200">
                <a:latin typeface="Calibri"/>
              </a:rPr>
              <a:t>  é normal por construção. É isso que viabiliza o método: o modelo só conhece o normal.</a:t>
            </a:r>
          </a:p>
          <a:p/>
          <a:p>
            <a:r>
              <a:rPr sz="1200">
                <a:latin typeface="Calibri"/>
              </a:rPr>
              <a:t>SE PERGUNTAREM</a:t>
            </a:r>
          </a:p>
          <a:p>
            <a:r>
              <a:rPr sz="1200">
                <a:latin typeface="Calibri"/>
              </a:rPr>
              <a:t>P: "Por que só uma máquina?"</a:t>
            </a:r>
          </a:p>
          <a:p>
            <a:r>
              <a:rPr sz="1200">
                <a:latin typeface="Calibri"/>
              </a:rPr>
              <a:t>R: "Escopo. O pipeline aceita qualquer uma das 28 trocando uma linha no config.py — a</a:t>
            </a:r>
          </a:p>
          <a:p>
            <a:r>
              <a:rPr sz="1200">
                <a:latin typeface="Calibri"/>
              </a:rPr>
              <a:t>   variável FILE_NAME. Não rodamos as outras, e registramos isso como limitação."</a:t>
            </a:r>
          </a:p>
          <a:p>
            <a:r>
              <a:rPr sz="1200">
                <a:latin typeface="Calibri"/>
              </a:rPr>
              <a:t>P: "Vocês usam os rótulos?"</a:t>
            </a:r>
          </a:p>
          <a:p>
            <a:r>
              <a:rPr sz="1200">
                <a:latin typeface="Calibri"/>
              </a:rPr>
              <a:t>R: "Só para avaliar. O treino é cego aos rótulos; se usássemos, seria aprendizado</a:t>
            </a:r>
          </a:p>
          <a:p>
            <a:r>
              <a:rPr sz="1200">
                <a:latin typeface="Calibri"/>
              </a:rPr>
              <a:t>   supervisionado e outro projeto."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[TEMPO: 65s — NÃO leia os sete requisitos em voz alta]</a:t>
            </a:r>
          </a:p>
          <a:p/>
          <a:p>
            <a:r>
              <a:rPr sz="1200">
                <a:latin typeface="Calibri"/>
              </a:rPr>
              <a:t>ROTEIRO — o que dizer</a:t>
            </a:r>
          </a:p>
          <a:p>
            <a:r>
              <a:rPr sz="1200">
                <a:latin typeface="Calibri"/>
              </a:rPr>
              <a:t>"Os requisitos não foram inventados na hora de escrever o documento: saíram do GR4ML, o</a:t>
            </a:r>
          </a:p>
          <a:p>
            <a:r>
              <a:rPr sz="1200">
                <a:latin typeface="Calibri"/>
              </a:rPr>
              <a:t>framework de engenharia de requisitos que vimos na aula prática. Ele parte do objetivo de</a:t>
            </a:r>
          </a:p>
          <a:p>
            <a:r>
              <a:rPr sz="1200">
                <a:latin typeface="Calibri"/>
              </a:rPr>
              <a:t>negócio, passa por quais decisões o usuário precisa tomar, e só então vira requisito escrito.</a:t>
            </a:r>
          </a:p>
          <a:p>
            <a:r>
              <a:rPr sz="1200">
                <a:latin typeface="Calibri"/>
              </a:rPr>
              <a:t>São sete requisitos funcionais. Destaco três: o RF-01 é o coração — calcular um escore de</a:t>
            </a:r>
          </a:p>
          <a:p>
            <a:r>
              <a:rPr sz="1200">
                <a:latin typeface="Calibri"/>
              </a:rPr>
              <a:t>anomalia por janela. O RF-04 é o que define nossa abordagem — aprender o normal sem usar</a:t>
            </a:r>
          </a:p>
          <a:p>
            <a:r>
              <a:rPr sz="1200">
                <a:latin typeface="Calibri"/>
              </a:rPr>
              <a:t>rótulos. E o RF-06 é o que torna o sistema auditável — o limiar não é escolhido a dedo, é</a:t>
            </a:r>
          </a:p>
          <a:p>
            <a:r>
              <a:rPr sz="1200">
                <a:latin typeface="Calibri"/>
              </a:rPr>
              <a:t>derivado dos dados e registrado a cada execução.</a:t>
            </a:r>
          </a:p>
          <a:p>
            <a:r>
              <a:rPr sz="1200">
                <a:latin typeface="Calibri"/>
              </a:rPr>
              <a:t>Somos transparentes sobre o que não está pronto: o RF-03 é do sistema-alvo e não do</a:t>
            </a:r>
          </a:p>
          <a:p>
            <a:r>
              <a:rPr sz="1200">
                <a:latin typeface="Calibri"/>
              </a:rPr>
              <a:t>protótipo, e dois requisitos estão parciais. Isso está declarado no documento, não escondido."</a:t>
            </a:r>
          </a:p>
          <a:p/>
          <a:p>
            <a:r>
              <a:rPr sz="1200">
                <a:latin typeface="Calibri"/>
              </a:rPr>
              <a:t>ENTENDA — os conceitos deste slide</a:t>
            </a:r>
          </a:p>
          <a:p>
            <a:r>
              <a:rPr sz="1200">
                <a:latin typeface="Calibri"/>
              </a:rPr>
              <a:t>· GR4ML: Goal-Oriented Requirements Engineering for Machine Learning. A ideia central é que</a:t>
            </a:r>
          </a:p>
          <a:p>
            <a:r>
              <a:rPr sz="1200">
                <a:latin typeface="Calibri"/>
              </a:rPr>
              <a:t>  requisito de sistema de IA não começa em "que modelo usar", e sim em "que decisão de</a:t>
            </a:r>
          </a:p>
          <a:p>
            <a:r>
              <a:rPr sz="1200">
                <a:latin typeface="Calibri"/>
              </a:rPr>
              <a:t>  negócio precisa ser tomada". Ele organiza isso em três visões: Business, Analytics Design e</a:t>
            </a:r>
          </a:p>
          <a:p>
            <a:r>
              <a:rPr sz="1200">
                <a:latin typeface="Calibri"/>
              </a:rPr>
              <a:t>  Data Preparation.</a:t>
            </a:r>
          </a:p>
          <a:p>
            <a:r>
              <a:rPr sz="1200">
                <a:latin typeface="Calibri"/>
              </a:rPr>
              <a:t>· DECISION GOAL: a decisão concreta que o usuário precisa tomar. O nosso: a cada alerta, o</a:t>
            </a:r>
          </a:p>
          <a:p>
            <a:r>
              <a:rPr sz="1200">
                <a:latin typeface="Calibri"/>
              </a:rPr>
              <a:t>  analista decide entre investigar agora, seguir observando, ou registrar como não acionável.</a:t>
            </a:r>
          </a:p>
          <a:p>
            <a:r>
              <a:rPr sz="1200">
                <a:latin typeface="Calibri"/>
              </a:rPr>
              <a:t>· QUESTION GOAL: a pergunta que os dados precisam responder para apoiar aquela decisão. A</a:t>
            </a:r>
          </a:p>
          <a:p>
            <a:r>
              <a:rPr sz="1200">
                <a:latin typeface="Calibri"/>
              </a:rPr>
              <a:t>  nossa: "esta janela da série apresenta comportamento anômalo?"</a:t>
            </a:r>
          </a:p>
          <a:p>
            <a:r>
              <a:rPr sz="1200">
                <a:latin typeface="Calibri"/>
              </a:rPr>
              <a:t>· RASTREABILIDADE: é a propriedade de cada requisito apontar de onde veio. É critério de</a:t>
            </a:r>
          </a:p>
          <a:p>
            <a:r>
              <a:rPr sz="1200">
                <a:latin typeface="Calibri"/>
              </a:rPr>
              <a:t>  avaliação da disciplina, e é o que distingue requisito elicitado de requisito chutado.</a:t>
            </a:r>
          </a:p>
          <a:p>
            <a:r>
              <a:rPr sz="1200">
                <a:latin typeface="Calibri"/>
              </a:rPr>
              <a:t>· "O SISTEMA DEVE...": todo requisito começa assim, tem uma exigência só, e precisa ser</a:t>
            </a:r>
          </a:p>
          <a:p>
            <a:r>
              <a:rPr sz="1200">
                <a:latin typeface="Calibri"/>
              </a:rPr>
              <a:t>  testável — alguém de fora deve conseguir olhar o sistema pronto e dizer se foi atendido.</a:t>
            </a:r>
          </a:p>
          <a:p/>
          <a:p>
            <a:r>
              <a:rPr sz="1200">
                <a:latin typeface="Calibri"/>
              </a:rPr>
              <a:t>SE PERGUNTAREM</a:t>
            </a:r>
          </a:p>
          <a:p>
            <a:r>
              <a:rPr sz="1200">
                <a:latin typeface="Calibri"/>
              </a:rPr>
              <a:t>P: "Por que apresentar requisito que vocês não implementaram?"</a:t>
            </a:r>
          </a:p>
          <a:p>
            <a:r>
              <a:rPr sz="1200">
                <a:latin typeface="Calibri"/>
              </a:rPr>
              <a:t>R: "Porque o documento descreve o sistema-alvo, e o professor pediu explicitamente uma</a:t>
            </a:r>
          </a:p>
          <a:p>
            <a:r>
              <a:rPr sz="1200">
                <a:latin typeface="Calibri"/>
              </a:rPr>
              <a:t>   maquete funcional, não um sistema completo. Declarar a lacuna é mais honesto — e mais</a:t>
            </a:r>
          </a:p>
          <a:p>
            <a:r>
              <a:rPr sz="1200">
                <a:latin typeface="Calibri"/>
              </a:rPr>
              <a:t>   útil — do que rebaixar o requisito até caber no que já fizemos."</a:t>
            </a:r>
          </a:p>
          <a:p>
            <a:r>
              <a:rPr sz="1200">
                <a:latin typeface="Calibri"/>
              </a:rPr>
              <a:t>P: "O que falta exatamente no RF-05?"</a:t>
            </a:r>
          </a:p>
          <a:p>
            <a:r>
              <a:rPr sz="1200">
                <a:latin typeface="Calibri"/>
              </a:rPr>
              <a:t>R: "Salvamos os pesos do modelo e o limiar, mas não a média e o desvio usados na</a:t>
            </a:r>
          </a:p>
          <a:p>
            <a:r>
              <a:rPr sz="1200">
                <a:latin typeface="Calibri"/>
              </a:rPr>
              <a:t>   padronização. Sem eles, quem carregar o modelo não consegue preparar dados novos</a:t>
            </a:r>
          </a:p>
          <a:p>
            <a:r>
              <a:rPr sz="1200">
                <a:latin typeface="Calibri"/>
              </a:rPr>
              <a:t>   exatamente do mesmo jeito. É uma correção pequena e localizada."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[TEMPO: 70s — o critério de aceitação é o ponto alto, chegue nele]</a:t>
            </a:r>
          </a:p>
          <a:p/>
          <a:p>
            <a:r>
              <a:rPr sz="1200">
                <a:latin typeface="Calibri"/>
              </a:rPr>
              <a:t>ROTEIRO — o que dizer</a:t>
            </a:r>
          </a:p>
          <a:p>
            <a:r>
              <a:rPr sz="1200">
                <a:latin typeface="Calibri"/>
              </a:rPr>
              <a:t>"Requisito não funcional é sobre qualidade, não sobre função. E a regra que seguimos é: se</a:t>
            </a:r>
          </a:p>
          <a:p>
            <a:r>
              <a:rPr sz="1200">
                <a:latin typeface="Calibri"/>
              </a:rPr>
              <a:t>não dá para verificar, não é requisito — é desejo. Por isso cada linha tem uma coluna</a:t>
            </a:r>
          </a:p>
          <a:p>
            <a:r>
              <a:rPr sz="1200">
                <a:latin typeface="Calibri"/>
              </a:rPr>
              <a:t>dizendo COMO se verifica.</a:t>
            </a:r>
          </a:p>
          <a:p>
            <a:r>
              <a:rPr sz="1200">
                <a:latin typeface="Calibri"/>
              </a:rPr>
              <a:t>O RNF-01 pede precisão acima da taxa base. Note por que a taxa base é a régua certa: como</a:t>
            </a:r>
          </a:p>
          <a:p>
            <a:r>
              <a:rPr sz="1200">
                <a:latin typeface="Calibri"/>
              </a:rPr>
              <a:t>9,46% do conjunto é anômalo, um detector que chutasse ao acaso acertaria 9,46%. Ficar acima</a:t>
            </a:r>
          </a:p>
          <a:p>
            <a:r>
              <a:rPr sz="1200">
                <a:latin typeface="Calibri"/>
              </a:rPr>
              <a:t>disso é o mínimo para o modelo ter valor. Medimos 25,3% — três vezes a régua.</a:t>
            </a:r>
          </a:p>
          <a:p>
            <a:r>
              <a:rPr sz="1200">
                <a:latin typeface="Calibri"/>
              </a:rPr>
              <a:t>O RNF-03 exigia treinar sem GPU: treinou em CPU em menos de três minutos.</a:t>
            </a:r>
          </a:p>
          <a:p>
            <a:r>
              <a:rPr sz="1200">
                <a:latin typeface="Calibri"/>
              </a:rPr>
              <a:t>O RNF-02 é o que não atendemos, e é justamente o que exige o erro por dimensão.</a:t>
            </a:r>
          </a:p>
          <a:p>
            <a:r>
              <a:rPr sz="1200">
                <a:latin typeface="Calibri"/>
              </a:rPr>
              <a:t>E o conjunto todo fecha com um critério de aceitação ligado ao indicador de negócio — este</a:t>
            </a:r>
          </a:p>
          <a:p>
            <a:r>
              <a:rPr sz="1200">
                <a:latin typeface="Calibri"/>
              </a:rPr>
              <a:t>aqui embaixo. Na execução de referência, ele foi atendido nos dois lados."</a:t>
            </a:r>
          </a:p>
          <a:p/>
          <a:p>
            <a:r>
              <a:rPr sz="1200">
                <a:latin typeface="Calibri"/>
              </a:rPr>
              <a:t>ENTENDA — os conceitos deste slide</a:t>
            </a:r>
          </a:p>
          <a:p>
            <a:r>
              <a:rPr sz="1200">
                <a:latin typeface="Calibri"/>
              </a:rPr>
              <a:t>· PRECISÃO: dos alertas que o sistema deu, quantos eram anomalia de verdade. Precisão baixa =</a:t>
            </a:r>
          </a:p>
          <a:p>
            <a:r>
              <a:rPr sz="1200">
                <a:latin typeface="Calibri"/>
              </a:rPr>
              <a:t>  o plantão perde tempo com alarme falso.</a:t>
            </a:r>
          </a:p>
          <a:p>
            <a:r>
              <a:rPr sz="1200">
                <a:latin typeface="Calibri"/>
              </a:rPr>
              <a:t>· RECALL: das anomalias que existiam, quantas o sistema pegou. Recall baixo = incidente passou</a:t>
            </a:r>
          </a:p>
          <a:p>
            <a:r>
              <a:rPr sz="1200">
                <a:latin typeface="Calibri"/>
              </a:rPr>
              <a:t>  batido. É o erro mais caro em operação.</a:t>
            </a:r>
          </a:p>
          <a:p>
            <a:r>
              <a:rPr sz="1200">
                <a:latin typeface="Calibri"/>
              </a:rPr>
              <a:t>· O TRADE-OFF: os dois brigam entre si. Baixar o limiar aumenta o recall e derruba a precisão;</a:t>
            </a:r>
          </a:p>
          <a:p>
            <a:r>
              <a:rPr sz="1200">
                <a:latin typeface="Calibri"/>
              </a:rPr>
              <a:t>  subir faz o contrário. Não existe "melhorar os dois" só apertando o limiar — para isso é</a:t>
            </a:r>
          </a:p>
          <a:p>
            <a:r>
              <a:rPr sz="1200">
                <a:latin typeface="Calibri"/>
              </a:rPr>
              <a:t>  preciso um modelo melhor. O slide 11 mostra essa curva medida.</a:t>
            </a:r>
          </a:p>
          <a:p>
            <a:r>
              <a:rPr sz="1200">
                <a:latin typeface="Calibri"/>
              </a:rPr>
              <a:t>· F1: a média harmônica entre precisão e recall — um número só, que pune quem é muito bom num</a:t>
            </a:r>
          </a:p>
          <a:p>
            <a:r>
              <a:rPr sz="1200">
                <a:latin typeface="Calibri"/>
              </a:rPr>
              <a:t>  e muito ruim no outro.</a:t>
            </a:r>
          </a:p>
          <a:p>
            <a:r>
              <a:rPr sz="1200">
                <a:latin typeface="Calibri"/>
              </a:rPr>
              <a:t>· SOFTGOAL: no GR4ML, é a qualidade desejada ainda em linguagem de negócio ("não quero muito</a:t>
            </a:r>
          </a:p>
          <a:p>
            <a:r>
              <a:rPr sz="1200">
                <a:latin typeface="Calibri"/>
              </a:rPr>
              <a:t>  alarme falso"). O "pulo do gato" do framework é obrigar cada softgoal a virar uma métrica</a:t>
            </a:r>
          </a:p>
          <a:p>
            <a:r>
              <a:rPr sz="1200">
                <a:latin typeface="Calibri"/>
              </a:rPr>
              <a:t>  concreta — senão ele fica bonito no papel e não influencia decisão nenhuma.</a:t>
            </a:r>
          </a:p>
          <a:p/>
          <a:p>
            <a:r>
              <a:rPr sz="1200">
                <a:latin typeface="Calibri"/>
              </a:rPr>
              <a:t>SE PERGUNTAREM</a:t>
            </a:r>
          </a:p>
          <a:p>
            <a:r>
              <a:rPr sz="1200">
                <a:latin typeface="Calibri"/>
              </a:rPr>
              <a:t>P: "25% de precisão não é baixo?"</a:t>
            </a:r>
          </a:p>
          <a:p>
            <a:r>
              <a:rPr sz="1200">
                <a:latin typeface="Calibri"/>
              </a:rPr>
              <a:t>R: "Em termos absolutos, sim: três em cada quatro alertas são falsos. Mas a comparação</a:t>
            </a:r>
          </a:p>
          <a:p>
            <a:r>
              <a:rPr sz="1200">
                <a:latin typeface="Calibri"/>
              </a:rPr>
              <a:t>   relevante é com a taxa base de 9,46%, e aí é quase três vezes melhor que o acaso. E é uma</a:t>
            </a:r>
          </a:p>
          <a:p>
            <a:r>
              <a:rPr sz="1200">
                <a:latin typeface="Calibri"/>
              </a:rPr>
              <a:t>   escolha consciente: nosso limiar está calibrado para recall alto, porque em operação</a:t>
            </a:r>
          </a:p>
          <a:p>
            <a:r>
              <a:rPr sz="1200">
                <a:latin typeface="Calibri"/>
              </a:rPr>
              <a:t>   deixar passar um incidente custa mais que investigar um alerta à toa. No slide 11</a:t>
            </a:r>
          </a:p>
          <a:p>
            <a:r>
              <a:rPr sz="1200">
                <a:latin typeface="Calibri"/>
              </a:rPr>
              <a:t>   mostramos que, mexendo só no limiar, chegamos a 83% de precisão — pagando com recall."</a:t>
            </a:r>
          </a:p>
          <a:p>
            <a:r>
              <a:rPr sz="1200">
                <a:latin typeface="Calibri"/>
              </a:rPr>
              <a:t>P: "Como vocês verificariam o RNF-04 direito?"</a:t>
            </a:r>
          </a:p>
          <a:p>
            <a:r>
              <a:rPr sz="1200">
                <a:latin typeface="Calibri"/>
              </a:rPr>
              <a:t>R: "Implementando o baseline de limiar por métrica e comparando os dois no mesmo volume de</a:t>
            </a:r>
          </a:p>
          <a:p>
            <a:r>
              <a:rPr sz="1200">
                <a:latin typeface="Calibri"/>
              </a:rPr>
              <a:t>   alerta. Não fizemos, e assumimos isso na reflexão crítica do documento."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[TEMPO: 65s — este slide é obrigatório no enunciado; aponte para a tela]</a:t>
            </a:r>
          </a:p>
          <a:p/>
          <a:p>
            <a:r>
              <a:rPr sz="1200">
                <a:latin typeface="Calibri"/>
              </a:rPr>
              <a:t>ROTEIRO — o que dizer</a:t>
            </a:r>
          </a:p>
          <a:p>
            <a:r>
              <a:rPr sz="1200">
                <a:latin typeface="Calibri"/>
              </a:rPr>
              <a:t>"Esta é a arquitetura real do projeto, não um desenho genérico. Leia da esquerda para a</a:t>
            </a:r>
          </a:p>
          <a:p>
            <a:r>
              <a:rPr sz="1200">
                <a:latin typeface="Calibri"/>
              </a:rPr>
              <a:t>direita: os dados do SMD entram, passam por carregamento e limpeza, vão para o</a:t>
            </a:r>
          </a:p>
          <a:p>
            <a:r>
              <a:rPr sz="1200">
                <a:latin typeface="Calibri"/>
              </a:rPr>
              <a:t>pré-processamento em NumPy, viram janelas e tensores no módulo de treino, o modelo aprende,</a:t>
            </a:r>
          </a:p>
          <a:p>
            <a:r>
              <a:rPr sz="1200">
                <a:latin typeface="Calibri"/>
              </a:rPr>
              <a:t>a avaliação aplica o limiar e calcula as métricas, e tudo termina em artefatos gravados em</a:t>
            </a:r>
          </a:p>
          <a:p>
            <a:r>
              <a:rPr sz="1200">
                <a:latin typeface="Calibri"/>
              </a:rPr>
              <a:t>disco — o modelo salvo e o results.json.</a:t>
            </a:r>
          </a:p>
          <a:p>
            <a:r>
              <a:rPr sz="1200">
                <a:latin typeface="Calibri"/>
              </a:rPr>
              <a:t>Duas coisas que valem apontar. Primeira: a barra azul em cima. O main.py é o único componente</a:t>
            </a:r>
          </a:p>
          <a:p>
            <a:r>
              <a:rPr sz="1200">
                <a:latin typeface="Calibri"/>
              </a:rPr>
              <a:t>que sabe em que ordem as etapas acontecem; nenhum módulo chama o outro por conta própria.</a:t>
            </a:r>
          </a:p>
          <a:p>
            <a:r>
              <a:rPr sz="1200">
                <a:latin typeface="Calibri"/>
              </a:rPr>
              <a:t>Segunda: a caixa cinza embaixo. O utils é apoio — configuração e sementes — e a seta dele é</a:t>
            </a:r>
          </a:p>
          <a:p>
            <a:r>
              <a:rPr sz="1200">
                <a:latin typeface="Calibri"/>
              </a:rPr>
              <a:t>tracejada de propósito, porque ele não carrega dado do pipeline, só parâmetro.</a:t>
            </a:r>
          </a:p>
          <a:p>
            <a:r>
              <a:rPr sz="1200">
                <a:latin typeface="Calibri"/>
              </a:rPr>
              <a:t>E a regra que amarra tudo: as setas nunca voltam. Nenhum pacote importa o orquestrador."</a:t>
            </a:r>
          </a:p>
          <a:p/>
          <a:p>
            <a:r>
              <a:rPr sz="1200">
                <a:latin typeface="Calibri"/>
              </a:rPr>
              <a:t>ENTENDA — os conceitos deste slide</a:t>
            </a:r>
          </a:p>
          <a:p>
            <a:r>
              <a:rPr sz="1200">
                <a:latin typeface="Calibri"/>
              </a:rPr>
              <a:t>· ORQUESTRADOR: o componente que chama os outros na ordem certa. Concentrar a ordem num lugar</a:t>
            </a:r>
          </a:p>
          <a:p>
            <a:r>
              <a:rPr sz="1200">
                <a:latin typeface="Calibri"/>
              </a:rPr>
              <a:t>  só significa que mudar a sequência é mexer num arquivo, não em seis.</a:t>
            </a:r>
          </a:p>
          <a:p>
            <a:r>
              <a:rPr sz="1200">
                <a:latin typeface="Calibri"/>
              </a:rPr>
              <a:t>· ACOPLAMENTO: o quanto um módulo depende dos outros. Quanto menos, melhor — porque mudança</a:t>
            </a:r>
          </a:p>
          <a:p>
            <a:r>
              <a:rPr sz="1200">
                <a:latin typeface="Calibri"/>
              </a:rPr>
              <a:t>  em um não obriga mudança nos demais.</a:t>
            </a:r>
          </a:p>
          <a:p>
            <a:r>
              <a:rPr sz="1200">
                <a:latin typeface="Calibri"/>
              </a:rPr>
              <a:t>· COESÃO: o quanto o que está dentro de um módulo pertence junto. Alta coesão = o arquivo faz</a:t>
            </a:r>
          </a:p>
          <a:p>
            <a:r>
              <a:rPr sz="1200">
                <a:latin typeface="Calibri"/>
              </a:rPr>
              <a:t>  uma coisa só. Nosso transform.py só transforma dados; não carrega arquivo nem treina.</a:t>
            </a:r>
          </a:p>
          <a:p>
            <a:r>
              <a:rPr sz="1200">
                <a:latin typeface="Calibri"/>
              </a:rPr>
              <a:t>· DEPENDÊNCIA ACÍCLICA ("as setas nunca voltam"): se A importa B, B não pode importar A. Ciclo</a:t>
            </a:r>
          </a:p>
          <a:p>
            <a:r>
              <a:rPr sz="1200">
                <a:latin typeface="Calibri"/>
              </a:rPr>
              <a:t>  de importação em Python quebra na hora e, pior, torna impossível testar um módulo sozinho.</a:t>
            </a:r>
          </a:p>
          <a:p>
            <a:r>
              <a:rPr sz="1200">
                <a:latin typeface="Calibri"/>
              </a:rPr>
              <a:t>· POR QUE ISSO IMPORTA NA PRÁTICA: como preprocessing e data não importam torch, um colega</a:t>
            </a:r>
          </a:p>
          <a:p>
            <a:r>
              <a:rPr sz="1200">
                <a:latin typeface="Calibri"/>
              </a:rPr>
              <a:t>  sem PyTorch instalado consegue rodar e testar essa parte. Isso aconteceu de verdade no grupo.</a:t>
            </a:r>
          </a:p>
          <a:p/>
          <a:p>
            <a:r>
              <a:rPr sz="1200">
                <a:latin typeface="Calibri"/>
              </a:rPr>
              <a:t>SE PERGUNTAREM</a:t>
            </a:r>
          </a:p>
          <a:p>
            <a:r>
              <a:rPr sz="1200">
                <a:latin typeface="Calibri"/>
              </a:rPr>
              <a:t>P: "Cadê o módulo de inferência?"</a:t>
            </a:r>
          </a:p>
          <a:p>
            <a:r>
              <a:rPr sz="1200">
                <a:latin typeface="Calibri"/>
              </a:rPr>
              <a:t>R: "Não existe como pacote separado, e isso é consciente. Hoje a inferência é a composição de</a:t>
            </a:r>
          </a:p>
          <a:p>
            <a:r>
              <a:rPr sz="1200">
                <a:latin typeface="Calibri"/>
              </a:rPr>
              <a:t>   duas funções — o erro de reconstrução mais a predição pelo limiar — chamadas pelo main.py.</a:t>
            </a:r>
          </a:p>
          <a:p>
            <a:r>
              <a:rPr sz="1200">
                <a:latin typeface="Calibri"/>
              </a:rPr>
              <a:t>   Quando houver consumo de dados novos fora do pipeline de avaliação, é o próximo módulo a</a:t>
            </a:r>
          </a:p>
          <a:p>
            <a:r>
              <a:rPr sz="1200">
                <a:latin typeface="Calibri"/>
              </a:rPr>
              <a:t>   nascer. Está registrado nas limitações do documento de arquitetura."</a:t>
            </a:r>
          </a:p>
          <a:p>
            <a:r>
              <a:rPr sz="1200">
                <a:latin typeface="Calibri"/>
              </a:rPr>
              <a:t>P: "O diagrama está versionado?"</a:t>
            </a:r>
          </a:p>
          <a:p>
            <a:r>
              <a:rPr sz="1200">
                <a:latin typeface="Calibri"/>
              </a:rPr>
              <a:t>R: "Está, em docs/arquitetura.md, escrito em Mermaid — o GitHub renderiza direto na página."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[TEMPO: 65s — escolha TRÊS decisões para falar, não as oito]</a:t>
            </a:r>
          </a:p>
          <a:p/>
          <a:p>
            <a:r>
              <a:rPr sz="1200">
                <a:latin typeface="Calibri"/>
              </a:rPr>
              <a:t>ROTEIRO — o que dizer</a:t>
            </a:r>
          </a:p>
          <a:p>
            <a:r>
              <a:rPr sz="1200">
                <a:latin typeface="Calibri"/>
              </a:rPr>
              <a:t>"Estas são as decisões que moldaram o código, com a justificativa de cada uma. Vou destacar três.</a:t>
            </a:r>
          </a:p>
          <a:p>
            <a:r>
              <a:rPr sz="1200">
                <a:latin typeface="Calibri"/>
              </a:rPr>
              <a:t>A D2: todo o pré-processamento é NumPy puro e acontece ANTES de qualquer tensor. Isso não é</a:t>
            </a:r>
          </a:p>
          <a:p>
            <a:r>
              <a:rPr sz="1200">
                <a:latin typeface="Calibri"/>
              </a:rPr>
              <a:t>preciosismo — significa que quem não tem PyTorch instalado ainda consegue rodar e testar essa</a:t>
            </a:r>
          </a:p>
          <a:p>
            <a:r>
              <a:rPr sz="1200">
                <a:latin typeface="Calibri"/>
              </a:rPr>
              <a:t>metade do sistema. Isso resolveu um problema real de ambiente no nosso grupo.</a:t>
            </a:r>
          </a:p>
          <a:p>
            <a:r>
              <a:rPr sz="1200">
                <a:latin typeface="Calibri"/>
              </a:rPr>
              <a:t>A D4 e a D5 são sobre validade do experimento. Padronizamos validação e teste com a média e o</a:t>
            </a:r>
          </a:p>
          <a:p>
            <a:r>
              <a:rPr sz="1200">
                <a:latin typeface="Calibri"/>
              </a:rPr>
              <a:t>desvio calculados SÓ no treino: usar as estatísticas do teste seria vazamento de dados. E</a:t>
            </a:r>
          </a:p>
          <a:p>
            <a:r>
              <a:rPr sz="1200">
                <a:latin typeface="Calibri"/>
              </a:rPr>
              <a:t>dividimos a série em ordem cronológica, nunca embaralhando — embaralhar uma série temporal</a:t>
            </a:r>
          </a:p>
          <a:p>
            <a:r>
              <a:rPr sz="1200">
                <a:latin typeface="Calibri"/>
              </a:rPr>
              <a:t>treina o modelo com o futuro e infla o resultado.</a:t>
            </a:r>
          </a:p>
          <a:p>
            <a:r>
              <a:rPr sz="1200">
                <a:latin typeface="Calibri"/>
              </a:rPr>
              <a:t>E a D7: só o main.py orquestra. É isso que deixa cada função testável isoladamente."</a:t>
            </a:r>
          </a:p>
          <a:p/>
          <a:p>
            <a:r>
              <a:rPr sz="1200">
                <a:latin typeface="Calibri"/>
              </a:rPr>
              <a:t>ENTENDA — os conceitos deste slide</a:t>
            </a:r>
          </a:p>
          <a:p>
            <a:r>
              <a:rPr sz="1200">
                <a:latin typeface="Calibri"/>
              </a:rPr>
              <a:t>· VAZAMENTO DE DADOS (data leakage): quando informação do conjunto de teste influencia o</a:t>
            </a:r>
          </a:p>
          <a:p>
            <a:r>
              <a:rPr sz="1200">
                <a:latin typeface="Calibri"/>
              </a:rPr>
              <a:t>  treino, mesmo indiretamente. Padronizar tudo junto é o caso clássico: a média "sabe" o que</a:t>
            </a:r>
          </a:p>
          <a:p>
            <a:r>
              <a:rPr sz="1200">
                <a:latin typeface="Calibri"/>
              </a:rPr>
              <a:t>  há no teste. O resultado fica bom no papel e quebra na vida real.</a:t>
            </a:r>
          </a:p>
          <a:p>
            <a:r>
              <a:rPr sz="1200">
                <a:latin typeface="Calibri"/>
              </a:rPr>
              <a:t>· POR QUE NÃO EMBARALHAR SÉRIE TEMPORAL: se as janelas forem sorteadas, o modelo treina com</a:t>
            </a:r>
          </a:p>
          <a:p>
            <a:r>
              <a:rPr sz="1200">
                <a:latin typeface="Calibri"/>
              </a:rPr>
              <a:t>  instantes posteriores aos que vai prever. Como janelas vizinhas se sobrepõem, ele</a:t>
            </a:r>
          </a:p>
          <a:p>
            <a:r>
              <a:rPr sz="1200">
                <a:latin typeface="Calibri"/>
              </a:rPr>
              <a:t>  praticamente decora o teste. O resultado seria ótimo e falso.</a:t>
            </a:r>
          </a:p>
          <a:p>
            <a:r>
              <a:rPr sz="1200">
                <a:latin typeface="Calibri"/>
              </a:rPr>
              <a:t>· STATE_DICT: no PyTorch, um dicionário só com os pesos aprendidos — sem a estrutura da rede.</a:t>
            </a:r>
          </a:p>
          <a:p>
            <a:r>
              <a:rPr sz="1200">
                <a:latin typeface="Calibri"/>
              </a:rPr>
              <a:t>  Salvar assim obriga recriar a classe para carregar, o que parece trabalho extra mas evita</a:t>
            </a:r>
          </a:p>
          <a:p>
            <a:r>
              <a:rPr sz="1200">
                <a:latin typeface="Calibri"/>
              </a:rPr>
              <a:t>  que o arquivo salvo quebre quando o código da classe mudar.</a:t>
            </a:r>
          </a:p>
          <a:p>
            <a:r>
              <a:rPr sz="1200">
                <a:latin typeface="Calibri"/>
              </a:rPr>
              <a:t>· ALTA COESÃO / BAIXO ACOPLAMENTO: o par que a disciplina cobra. Coesão é "cada módulo faz uma</a:t>
            </a:r>
          </a:p>
          <a:p>
            <a:r>
              <a:rPr sz="1200">
                <a:latin typeface="Calibri"/>
              </a:rPr>
              <a:t>  coisa"; acoplamento é "quantos módulos preciso mexer para mudar uma coisa". Queremos a</a:t>
            </a:r>
          </a:p>
          <a:p>
            <a:r>
              <a:rPr sz="1200">
                <a:latin typeface="Calibri"/>
              </a:rPr>
              <a:t>  primeira alta e o segundo baixo.</a:t>
            </a:r>
          </a:p>
          <a:p/>
          <a:p>
            <a:r>
              <a:rPr sz="1200">
                <a:latin typeface="Calibri"/>
              </a:rPr>
              <a:t>SE PERGUNTAREM</a:t>
            </a:r>
          </a:p>
          <a:p>
            <a:r>
              <a:rPr sz="1200">
                <a:latin typeface="Calibri"/>
              </a:rPr>
              <a:t>P: "Por que não usaram scikit-learn para as métricas?"</a:t>
            </a:r>
          </a:p>
          <a:p>
            <a:r>
              <a:rPr sz="1200">
                <a:latin typeface="Calibri"/>
              </a:rPr>
              <a:t>R: "Duas razões: uma dependência a menos, e as fórmulas ficam visíveis e testáveis por nós.</a:t>
            </a:r>
          </a:p>
          <a:p>
            <a:r>
              <a:rPr sz="1200">
                <a:latin typeface="Calibri"/>
              </a:rPr>
              <a:t>   Precisão e recall são divisões simples; escrevê-las tornou a suíte de testes mais</a:t>
            </a:r>
          </a:p>
          <a:p>
            <a:r>
              <a:rPr sz="1200">
                <a:latin typeface="Calibri"/>
              </a:rPr>
              <a:t>   significativa do que testar um wrapper de biblioteca."</a:t>
            </a:r>
          </a:p>
          <a:p>
            <a:r>
              <a:rPr sz="1200">
                <a:latin typeface="Calibri"/>
              </a:rPr>
              <a:t>P: "Essas decisões foram tomadas antes ou depois de codar?"</a:t>
            </a:r>
          </a:p>
          <a:p>
            <a:r>
              <a:rPr sz="1200">
                <a:latin typeface="Calibri"/>
              </a:rPr>
              <a:t>R: "Mistas, e documentadas depois em docs/arquitetura.md. A separação por etapa veio antes,</a:t>
            </a:r>
          </a:p>
          <a:p>
            <a:r>
              <a:rPr sz="1200">
                <a:latin typeface="Calibri"/>
              </a:rPr>
              <a:t>   ainda na Entrega 1; a decisão de deixar o pré-processamento livre de torch veio da prática."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[TEMPO: 45s — mostre a árvore, mas gaste o tempo no PORQUÊ, à direita]</a:t>
            </a:r>
          </a:p>
          <a:p/>
          <a:p>
            <a:r>
              <a:rPr sz="1200">
                <a:latin typeface="Calibri"/>
              </a:rPr>
              <a:t>ROTEIRO — o que dizer</a:t>
            </a:r>
          </a:p>
          <a:p>
            <a:r>
              <a:rPr sz="1200">
                <a:latin typeface="Calibri"/>
              </a:rPr>
              <a:t>"Esta é a árvore real do repositório. O enunciado pede mais do que mostrar a estrutura: pede</a:t>
            </a:r>
          </a:p>
          <a:p>
            <a:r>
              <a:rPr sz="1200">
                <a:latin typeface="Calibri"/>
              </a:rPr>
              <a:t>explicar por que separamos assim. São quatro razões.</a:t>
            </a:r>
          </a:p>
          <a:p>
            <a:r>
              <a:rPr sz="1200">
                <a:latin typeface="Calibri"/>
              </a:rPr>
              <a:t>Primeira: um diretório por responsabilidade, e o nome da pasta diz a etapa do pipeline. Quem</a:t>
            </a:r>
          </a:p>
          <a:p>
            <a:r>
              <a:rPr sz="1200">
                <a:latin typeface="Calibri"/>
              </a:rPr>
              <a:t>abre o repositório pela primeira vez sabe onde procurar sem abrir arquivo nenhum.</a:t>
            </a:r>
          </a:p>
          <a:p>
            <a:r>
              <a:rPr sz="1200">
                <a:latin typeface="Calibri"/>
              </a:rPr>
              <a:t>Segunda: a pasta tests espelha a src na mesma granularidade — um arquivo de teste por pacote.</a:t>
            </a:r>
          </a:p>
          <a:p>
            <a:r>
              <a:rPr sz="1200">
                <a:latin typeface="Calibri"/>
              </a:rPr>
              <a:t>Se alguém pergunta 'onde vocês testam o pré-processamento?', a resposta é o nome do arquivo.</a:t>
            </a:r>
          </a:p>
          <a:p>
            <a:r>
              <a:rPr sz="1200">
                <a:latin typeface="Calibri"/>
              </a:rPr>
              <a:t>Terceira: o que é gerado não é versionado. Os dados brutos e o modelo treinado ficam fora do</a:t>
            </a:r>
          </a:p>
          <a:p>
            <a:r>
              <a:rPr sz="1200">
                <a:latin typeface="Calibri"/>
              </a:rPr>
              <a:t>Git, porque são reproduzíveis a partir do código; versionar binário grande polui o histórico.</a:t>
            </a:r>
          </a:p>
          <a:p>
            <a:r>
              <a:rPr sz="1200">
                <a:latin typeface="Calibri"/>
              </a:rPr>
              <a:t>Quarta: um único ponto de entrada. python main.py roda o pipeline inteiro."</a:t>
            </a:r>
          </a:p>
          <a:p/>
          <a:p>
            <a:r>
              <a:rPr sz="1200">
                <a:latin typeface="Calibri"/>
              </a:rPr>
              <a:t>ENTENDA — os conceitos deste slide</a:t>
            </a:r>
          </a:p>
          <a:p>
            <a:r>
              <a:rPr sz="1200">
                <a:latin typeface="Calibri"/>
              </a:rPr>
              <a:t>· PACOTE PYTHON: uma pasta com __init__.py, que permite importar como src.data.loader. É o</a:t>
            </a:r>
          </a:p>
          <a:p>
            <a:r>
              <a:rPr sz="1200">
                <a:latin typeface="Calibri"/>
              </a:rPr>
              <a:t>  mecanismo que torna a separação em pastas uma separação real de código, e não só visual.</a:t>
            </a:r>
          </a:p>
          <a:p>
            <a:r>
              <a:rPr sz="1200">
                <a:latin typeface="Calibri"/>
              </a:rPr>
              <a:t>· POR QUE NÃO VERSIONAR data/ E artifacts/: Git é feito para texto. Arquivo binário grande</a:t>
            </a:r>
          </a:p>
          <a:p>
            <a:r>
              <a:rPr sz="1200">
                <a:latin typeface="Calibri"/>
              </a:rPr>
              <a:t>  (um modelo .pt) incha o repositório para sempre, porque o histórico guarda toda versão.</a:t>
            </a:r>
          </a:p>
          <a:p>
            <a:r>
              <a:rPr sz="1200">
                <a:latin typeface="Calibri"/>
              </a:rPr>
              <a:t>  A regra prática: versione o que gera, não o que foi gerado.</a:t>
            </a:r>
          </a:p>
          <a:p>
            <a:r>
              <a:rPr sz="1200">
                <a:latin typeface="Calibri"/>
              </a:rPr>
              <a:t>· CONSEQUÊNCIA HONESTA DISSO: como artifacts/ não está no Git, o professor não encontra o</a:t>
            </a:r>
          </a:p>
          <a:p>
            <a:r>
              <a:rPr sz="1200">
                <a:latin typeface="Calibri"/>
              </a:rPr>
              <a:t>  results.json citado no nosso critério de aceitação — ele precisa rodar o pipeline. É uma</a:t>
            </a:r>
          </a:p>
          <a:p>
            <a:r>
              <a:rPr sz="1200">
                <a:latin typeface="Calibri"/>
              </a:rPr>
              <a:t>  limitação conhecida nossa (se perguntarem, assuma; não invente que está lá).</a:t>
            </a:r>
          </a:p>
          <a:p>
            <a:r>
              <a:rPr sz="1200">
                <a:latin typeface="Calibri"/>
              </a:rPr>
              <a:t>· REQUIREMENTS.TXT: a lista de dependências com versões. É o que faz outra pessoa reproduzir</a:t>
            </a:r>
          </a:p>
          <a:p>
            <a:r>
              <a:rPr sz="1200">
                <a:latin typeface="Calibri"/>
              </a:rPr>
              <a:t>  o ambiente com um comando.</a:t>
            </a:r>
          </a:p>
          <a:p/>
          <a:p>
            <a:r>
              <a:rPr sz="1200">
                <a:latin typeface="Calibri"/>
              </a:rPr>
              <a:t>SE PERGUNTAREM</a:t>
            </a:r>
          </a:p>
          <a:p>
            <a:r>
              <a:rPr sz="1200">
                <a:latin typeface="Calibri"/>
              </a:rPr>
              <a:t>P: "Por que models/ tem dois arquivos e os outros pacotes só um?"</a:t>
            </a:r>
          </a:p>
          <a:p>
            <a:r>
              <a:rPr sz="1200">
                <a:latin typeface="Calibri"/>
              </a:rPr>
              <a:t>R: "Porque são responsabilidades diferentes: model.py define a rede, persistence.py cuida de</a:t>
            </a:r>
          </a:p>
          <a:p>
            <a:r>
              <a:rPr sz="1200">
                <a:latin typeface="Calibri"/>
              </a:rPr>
              <a:t>   salvar e carregar. Manter juntos misturaria arquitetura com serialização — e é justamente</a:t>
            </a:r>
          </a:p>
          <a:p>
            <a:r>
              <a:rPr sz="1200">
                <a:latin typeface="Calibri"/>
              </a:rPr>
              <a:t>   a serialização que a gente pode querer trocar depois."</a:t>
            </a:r>
          </a:p>
          <a:p>
            <a:r>
              <a:rPr sz="1200">
                <a:latin typeface="Calibri"/>
              </a:rPr>
              <a:t>P: "Vocês seguiram a estrutura sugerida no enunciado?"</a:t>
            </a:r>
          </a:p>
          <a:p>
            <a:r>
              <a:rPr sz="1200">
                <a:latin typeface="Calibri"/>
              </a:rPr>
              <a:t>R: "Sim, com uma diferença: não temos o pacote inference/, porque a inferência hoje é a</a:t>
            </a:r>
          </a:p>
          <a:p>
            <a:r>
              <a:rPr sz="1200">
                <a:latin typeface="Calibri"/>
              </a:rPr>
              <a:t>   composição de duas funções chamadas pelo main.py. Preferimos não criar pasta vazia."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[TEMPO: 55s]</a:t>
            </a:r>
          </a:p>
          <a:p/>
          <a:p>
            <a:r>
              <a:rPr sz="1200">
                <a:latin typeface="Calibri"/>
              </a:rPr>
              <a:t>ROTEIRO — o que dizer</a:t>
            </a:r>
          </a:p>
          <a:p>
            <a:r>
              <a:rPr sz="1200">
                <a:latin typeface="Calibri"/>
              </a:rPr>
              <a:t>"Cada módulo tem uma responsabilidade e um contrato de entrada e saída explícito — é a coluna</a:t>
            </a:r>
          </a:p>
          <a:p>
            <a:r>
              <a:rPr sz="1200">
                <a:latin typeface="Calibri"/>
              </a:rPr>
              <a:t>da direita da tabela. Isso é o que permite trocar uma peça sem tocar nas outras.</a:t>
            </a:r>
          </a:p>
          <a:p>
            <a:r>
              <a:rPr sz="1200">
                <a:latin typeface="Calibri"/>
              </a:rPr>
              <a:t>Embaixo está o main.py resumido, que é a resposta para 'como isso tudo se integra'. Ele chama</a:t>
            </a:r>
          </a:p>
          <a:p>
            <a:r>
              <a:rPr sz="1200">
                <a:latin typeface="Calibri"/>
              </a:rPr>
              <a:t>uma função de cada módulo, na ordem, e passa o resultado adiante. Repare que nenhum módulo</a:t>
            </a:r>
          </a:p>
          <a:p>
            <a:r>
              <a:rPr sz="1200">
                <a:latin typeface="Calibri"/>
              </a:rPr>
              <a:t>aparece chamando outro: quem conhece a sequência é só o orquestrador.</a:t>
            </a:r>
          </a:p>
          <a:p>
            <a:r>
              <a:rPr sz="1200">
                <a:latin typeface="Calibri"/>
              </a:rPr>
              <a:t>E aponto a linha em destaque: a validação é padronizada com a média e o desvio que vieram do</a:t>
            </a:r>
          </a:p>
          <a:p>
            <a:r>
              <a:rPr sz="1200">
                <a:latin typeface="Calibri"/>
              </a:rPr>
              <a:t>treino, não os dela própria. É a decisão D4 do slide anterior aparecendo no código."</a:t>
            </a:r>
          </a:p>
          <a:p/>
          <a:p>
            <a:r>
              <a:rPr sz="1200">
                <a:latin typeface="Calibri"/>
              </a:rPr>
              <a:t>ENTENDA — os conceitos deste slide</a:t>
            </a:r>
          </a:p>
          <a:p>
            <a:r>
              <a:rPr sz="1200">
                <a:latin typeface="Calibri"/>
              </a:rPr>
              <a:t>· CONTRATO DE UMA FUNÇÃO: o que ela exige de entrada e o que garante de saída. Quando o</a:t>
            </a:r>
          </a:p>
          <a:p>
            <a:r>
              <a:rPr sz="1200">
                <a:latin typeface="Calibri"/>
              </a:rPr>
              <a:t>  contrato está explícito (nome claro + type hints + docstring), quem usa não precisa ler a</a:t>
            </a:r>
          </a:p>
          <a:p>
            <a:r>
              <a:rPr sz="1200">
                <a:latin typeface="Calibri"/>
              </a:rPr>
              <a:t>  implementação.</a:t>
            </a:r>
          </a:p>
          <a:p>
            <a:r>
              <a:rPr sz="1200">
                <a:latin typeface="Calibri"/>
              </a:rPr>
              <a:t>· DATAFRAME vs NDARRAY: DataFrame é a tabela do pandas, com rótulo de linha e coluna — bom</a:t>
            </a:r>
          </a:p>
          <a:p>
            <a:r>
              <a:rPr sz="1200">
                <a:latin typeface="Calibri"/>
              </a:rPr>
              <a:t>  para carregar e limpar. ndarray é a matriz do NumPy, sem rótulos — mais rápida para</a:t>
            </a:r>
          </a:p>
          <a:p>
            <a:r>
              <a:rPr sz="1200">
                <a:latin typeface="Calibri"/>
              </a:rPr>
              <a:t>  cálculo numérico. Nosso pipeline converte de um para o outro numa fronteira só.</a:t>
            </a:r>
          </a:p>
          <a:p>
            <a:r>
              <a:rPr sz="1200">
                <a:latin typeface="Calibri"/>
              </a:rPr>
              <a:t>· TENSOR: a matriz do PyTorch. Parece o ndarray, mas sabe calcular derivadas (é o que permite</a:t>
            </a:r>
          </a:p>
          <a:p>
            <a:r>
              <a:rPr sz="1200">
                <a:latin typeface="Calibri"/>
              </a:rPr>
              <a:t>  a rede aprender) e pode ir para a GPU.</a:t>
            </a:r>
          </a:p>
          <a:p>
            <a:r>
              <a:rPr sz="1200">
                <a:latin typeface="Calibri"/>
              </a:rPr>
              <a:t>· FRONTEIRA NUMPY → PYTORCH: a conversão para tensor acontece em dois pontos só — dentro do</a:t>
            </a:r>
          </a:p>
          <a:p>
            <a:r>
              <a:rPr sz="1200">
                <a:latin typeface="Calibri"/>
              </a:rPr>
              <a:t>  build_dataloader e do reconstruction_error. Nenhum outro módulo manipula tensor. É uma</a:t>
            </a:r>
          </a:p>
          <a:p>
            <a:r>
              <a:rPr sz="1200">
                <a:latin typeface="Calibri"/>
              </a:rPr>
              <a:t>  fronteira deliberada, não um acaso.</a:t>
            </a:r>
          </a:p>
          <a:p>
            <a:r>
              <a:rPr sz="1200">
                <a:latin typeface="Calibri"/>
              </a:rPr>
              <a:t>· "mean" e "std" DEVOLVIDOS PELA FUNÇÃO: repare que standardize devolve três coisas — os</a:t>
            </a:r>
          </a:p>
          <a:p>
            <a:r>
              <a:rPr sz="1200">
                <a:latin typeface="Calibri"/>
              </a:rPr>
              <a:t>  dados padronizados MAIS a média e o desvio usados. É isso que permite aplicar exatamente a</a:t>
            </a:r>
          </a:p>
          <a:p>
            <a:r>
              <a:rPr sz="1200">
                <a:latin typeface="Calibri"/>
              </a:rPr>
              <a:t>  mesma transformação na validação e no teste depois.</a:t>
            </a:r>
          </a:p>
          <a:p/>
          <a:p>
            <a:r>
              <a:rPr sz="1200">
                <a:latin typeface="Calibri"/>
              </a:rPr>
              <a:t>SE PERGUNTAREM</a:t>
            </a:r>
          </a:p>
          <a:p>
            <a:r>
              <a:rPr sz="1200">
                <a:latin typeface="Calibri"/>
              </a:rPr>
              <a:t>P: "O que é o clean_aligned e por que ele existe?"</a:t>
            </a:r>
          </a:p>
          <a:p>
            <a:r>
              <a:rPr sz="1200">
                <a:latin typeface="Calibri"/>
              </a:rPr>
              <a:t>R: "Quando removemos uma linha inválida das métricas de teste, temos que remover a MESMA</a:t>
            </a:r>
          </a:p>
          <a:p>
            <a:r>
              <a:rPr sz="1200">
                <a:latin typeface="Calibri"/>
              </a:rPr>
              <a:t>   linha dos rótulos, senão o pareamento entre métrica e rótulo se desloca e toda a avaliação</a:t>
            </a:r>
          </a:p>
          <a:p>
            <a:r>
              <a:rPr sz="1200">
                <a:latin typeface="Calibri"/>
              </a:rPr>
              <a:t>   fica errada. O clean_data comum não daria conta disso."</a:t>
            </a:r>
          </a:p>
          <a:p>
            <a:r>
              <a:rPr sz="1200">
                <a:latin typeface="Calibri"/>
              </a:rPr>
              <a:t>P: "Esse main.py cabe em dez linhas mesmo?"</a:t>
            </a:r>
          </a:p>
          <a:p>
            <a:r>
              <a:rPr sz="1200">
                <a:latin typeface="Calibri"/>
              </a:rPr>
              <a:t>R: "Essas são as chamadas essenciais; o arquivo real tem também as impressões de log e a</a:t>
            </a:r>
          </a:p>
          <a:p>
            <a:r>
              <a:rPr sz="1200">
                <a:latin typeface="Calibri"/>
              </a:rPr>
              <a:t>   gravação dos JSONs. Mas a estrutura é exatamente essa."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[TEMPO: 70s — são duas funções; ~35s em cada]</a:t>
            </a:r>
          </a:p>
          <a:p/>
          <a:p>
            <a:r>
              <a:rPr sz="1200">
                <a:latin typeface="Calibri"/>
              </a:rPr>
              <a:t>ROTEIRO — o que dizer</a:t>
            </a:r>
          </a:p>
          <a:p>
            <a:r>
              <a:rPr sz="1200">
                <a:latin typeface="Calibri"/>
              </a:rPr>
              <a:t>"Duas funções reais do projeto, escolhidas por serem representativas.</a:t>
            </a:r>
          </a:p>
          <a:p>
            <a:r>
              <a:rPr sz="1200">
                <a:latin typeface="Calibri"/>
              </a:rPr>
              <a:t>À esquerda, a padronização. Repare na assinatura: ela declara os tipos de entrada e o tipo de</a:t>
            </a:r>
          </a:p>
          <a:p>
            <a:r>
              <a:rPr sz="1200">
                <a:latin typeface="Calibri"/>
              </a:rPr>
              <a:t>retorno — uma tupla com três arrays. Quem chama sabe o que recebe sem ler o corpo. O uso de</a:t>
            </a:r>
          </a:p>
          <a:p>
            <a:r>
              <a:rPr sz="1200">
                <a:latin typeface="Calibri"/>
              </a:rPr>
              <a:t>NumPy aqui é vetorizado: np.mean com axis=0 calcula a média por coluna, ou seja, por métrica,</a:t>
            </a:r>
          </a:p>
          <a:p>
            <a:r>
              <a:rPr sz="1200">
                <a:latin typeface="Calibri"/>
              </a:rPr>
              <a:t>e a subtração acontece na matriz inteira de uma vez, sem laço em Python. E há um detalhe de</a:t>
            </a:r>
          </a:p>
          <a:p>
            <a:r>
              <a:rPr sz="1200">
                <a:latin typeface="Calibri"/>
              </a:rPr>
              <a:t>robustez: se alguma métrica for constante, o desvio seria zero e a divisão explodiria — a</a:t>
            </a:r>
          </a:p>
          <a:p>
            <a:r>
              <a:rPr sz="1200">
                <a:latin typeface="Calibri"/>
              </a:rPr>
              <a:t>linha do np.where troca o zero por um antes de dividir.</a:t>
            </a:r>
          </a:p>
          <a:p>
            <a:r>
              <a:rPr sz="1200">
                <a:latin typeface="Calibri"/>
              </a:rPr>
              <a:t>À direita, o cálculo do erro de reconstrução. O ponto de NumPy aqui é o sliding_window_view:</a:t>
            </a:r>
          </a:p>
          <a:p>
            <a:r>
              <a:rPr sz="1200">
                <a:latin typeface="Calibri"/>
              </a:rPr>
              <a:t>ele constrói todas as janelas sem copiar os dados, é uma visão sobre a mesma memória. Com</a:t>
            </a:r>
          </a:p>
          <a:p>
            <a:r>
              <a:rPr sz="1200">
                <a:latin typeface="Calibri"/>
              </a:rPr>
              <a:t>vinte e oito mil janelas de cinquenta por trinta e oito, copiar seria caro."</a:t>
            </a:r>
          </a:p>
          <a:p/>
          <a:p>
            <a:r>
              <a:rPr sz="1200">
                <a:latin typeface="Calibri"/>
              </a:rPr>
              <a:t>ENTENDA — os conceitos deste slide</a:t>
            </a:r>
          </a:p>
          <a:p>
            <a:r>
              <a:rPr sz="1200">
                <a:latin typeface="Calibri"/>
              </a:rPr>
              <a:t>· TYPE HINTS: as anotações de tipo (X: np.ndarray, -&gt; np.ndarray). Python não as obriga nem as</a:t>
            </a:r>
          </a:p>
          <a:p>
            <a:r>
              <a:rPr sz="1200">
                <a:latin typeface="Calibri"/>
              </a:rPr>
              <a:t>  verifica em tempo de execução — elas servem para quem lê o código e para o editor apontar</a:t>
            </a:r>
          </a:p>
          <a:p>
            <a:r>
              <a:rPr sz="1200">
                <a:latin typeface="Calibri"/>
              </a:rPr>
              <a:t>  erro antes de rodar. É critério avaliado na disciplina.</a:t>
            </a:r>
          </a:p>
          <a:p>
            <a:r>
              <a:rPr sz="1200">
                <a:latin typeface="Calibri"/>
              </a:rPr>
              <a:t>· np.ndarray | None: a barra significa "ou". O parâmetro aceita um array OU nada. É o que</a:t>
            </a:r>
          </a:p>
          <a:p>
            <a:r>
              <a:rPr sz="1200">
                <a:latin typeface="Calibri"/>
              </a:rPr>
              <a:t>  permite a mesma função ter dois modos de uso.</a:t>
            </a:r>
          </a:p>
          <a:p>
            <a:r>
              <a:rPr sz="1200">
                <a:latin typeface="Calibri"/>
              </a:rPr>
              <a:t>· VETORIZAÇÃO: fazer a operação na matriz inteira de uma vez, em código otimizado por baixo,</a:t>
            </a:r>
          </a:p>
          <a:p>
            <a:r>
              <a:rPr sz="1200">
                <a:latin typeface="Calibri"/>
              </a:rPr>
              <a:t>  em vez de percorrer elemento a elemento com for. É a razão de existir do NumPy: mais rápido</a:t>
            </a:r>
          </a:p>
          <a:p>
            <a:r>
              <a:rPr sz="1200">
                <a:latin typeface="Calibri"/>
              </a:rPr>
              <a:t>  e mais legível.</a:t>
            </a:r>
          </a:p>
          <a:p>
            <a:r>
              <a:rPr sz="1200">
                <a:latin typeface="Calibri"/>
              </a:rPr>
              <a:t>· axis=0: "ao longo das linhas", ou seja, o resultado tem um valor por coluna. Como cada</a:t>
            </a:r>
          </a:p>
          <a:p>
            <a:r>
              <a:rPr sz="1200">
                <a:latin typeface="Calibri"/>
              </a:rPr>
              <a:t>  coluna é uma métrica, é exatamente o que queremos — média por métrica, não média geral.</a:t>
            </a:r>
          </a:p>
          <a:p>
            <a:r>
              <a:rPr sz="1200">
                <a:latin typeface="Calibri"/>
              </a:rPr>
              <a:t>· SLIDING_WINDOW_VIEW: função do NumPy que devolve todas as janelas deslizantes como uma</a:t>
            </a:r>
          </a:p>
          <a:p>
            <a:r>
              <a:rPr sz="1200">
                <a:latin typeface="Calibri"/>
              </a:rPr>
              <a:t>  "visão" — sem alocar memória nova. Se fizéssemos as janelas com um laço e uma cópia, seriam</a:t>
            </a:r>
          </a:p>
          <a:p>
            <a:r>
              <a:rPr sz="1200">
                <a:latin typeface="Calibri"/>
              </a:rPr>
              <a:t>  28 mil × 50 × 38 números duplicados.</a:t>
            </a:r>
          </a:p>
          <a:p>
            <a:r>
              <a:rPr sz="1200">
                <a:latin typeface="Calibri"/>
              </a:rPr>
              <a:t>· MSE (erro quadrático médio): média dos quadrados das diferenças. Eleva ao quadrado para que</a:t>
            </a:r>
          </a:p>
          <a:p>
            <a:r>
              <a:rPr sz="1200">
                <a:latin typeface="Calibri"/>
              </a:rPr>
              <a:t>  erro para mais e para menos não se cancelem, e para punir mais os desvios grandes.</a:t>
            </a:r>
          </a:p>
          <a:p/>
          <a:p>
            <a:r>
              <a:rPr sz="1200">
                <a:latin typeface="Calibri"/>
              </a:rPr>
              <a:t>SE PERGUNTAREM</a:t>
            </a:r>
          </a:p>
          <a:p>
            <a:r>
              <a:rPr sz="1200">
                <a:latin typeface="Calibri"/>
              </a:rPr>
              <a:t>P: "Por que o safe_std existe?"</a:t>
            </a:r>
          </a:p>
          <a:p>
            <a:r>
              <a:rPr sz="1200">
                <a:latin typeface="Calibri"/>
              </a:rPr>
              <a:t>R: "Se uma métrica for constante no treino, o desvio dela é zero e a divisão daria infinito</a:t>
            </a:r>
          </a:p>
          <a:p>
            <a:r>
              <a:rPr sz="1200">
                <a:latin typeface="Calibri"/>
              </a:rPr>
              <a:t>   ou NaN, contaminando tudo. Trocamos o zero por um: a métrica fica centrada e sem escala,</a:t>
            </a:r>
          </a:p>
          <a:p>
            <a:r>
              <a:rPr sz="1200">
                <a:latin typeface="Calibri"/>
              </a:rPr>
              <a:t>   que é o comportamento razoável para uma coluna que não varia."</a:t>
            </a:r>
          </a:p>
          <a:p>
            <a:r>
              <a:rPr sz="1200">
                <a:latin typeface="Calibri"/>
              </a:rPr>
              <a:t>P: "Por que só o último instante da janela entra no erro?"</a:t>
            </a:r>
          </a:p>
          <a:p>
            <a:r>
              <a:rPr sz="1200">
                <a:latin typeface="Calibri"/>
              </a:rPr>
              <a:t>R: "Porque associamos cada janela ao instante mais recente dela — é o que permite comparar</a:t>
            </a:r>
          </a:p>
          <a:p>
            <a:r>
              <a:rPr sz="1200">
                <a:latin typeface="Calibri"/>
              </a:rPr>
              <a:t>   com o rótulo daquele instante. Por isso o alinhamento no main.py começa em janela menos um."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[TEMPO: 75s — é o slide mais técnico; vá com calma no funil]</a:t>
            </a:r>
          </a:p>
          <a:p/>
          <a:p>
            <a:r>
              <a:rPr sz="1200">
                <a:latin typeface="Calibri"/>
              </a:rPr>
              <a:t>ROTEIRO — o que dizer</a:t>
            </a:r>
          </a:p>
          <a:p>
            <a:r>
              <a:rPr sz="1200">
                <a:latin typeface="Calibri"/>
              </a:rPr>
              <a:t>"Este é o modelo real. A classe herda de nn.Module, que é a classe base de todo modelo em</a:t>
            </a:r>
          </a:p>
          <a:p>
            <a:r>
              <a:rPr sz="1200">
                <a:latin typeface="Calibri"/>
              </a:rPr>
              <a:t>PyTorch, e implementa o forward — o método que diz o que acontece com a entrada.</a:t>
            </a:r>
          </a:p>
          <a:p>
            <a:r>
              <a:rPr sz="1200">
                <a:latin typeface="Calibri"/>
              </a:rPr>
              <a:t>Olhem o desenho embaixo, que é a essência do método. Uma janela de 50 instantes por 38</a:t>
            </a:r>
          </a:p>
          <a:p>
            <a:r>
              <a:rPr sz="1200">
                <a:latin typeface="Calibri"/>
              </a:rPr>
              <a:t>métricas é achatada em um vetor de 1900 números. O encoder comprime esse vetor até 16 — é o</a:t>
            </a:r>
          </a:p>
          <a:p>
            <a:r>
              <a:rPr sz="1200">
                <a:latin typeface="Calibri"/>
              </a:rPr>
              <a:t>gargalo, em destaque. O decoder faz o caminho de volta e tenta reconstruir os mesmos 1900.</a:t>
            </a:r>
          </a:p>
          <a:p>
            <a:r>
              <a:rPr sz="1200">
                <a:latin typeface="Calibri"/>
              </a:rPr>
              <a:t>A pergunta natural é: por que espremer? Porque em 16 números não cabe tudo. A rede é obrigada</a:t>
            </a:r>
          </a:p>
          <a:p>
            <a:r>
              <a:rPr sz="1200">
                <a:latin typeface="Calibri"/>
              </a:rPr>
              <a:t>a guardar só os padrões que mais se repetem, e o que mais se repete no treino é o</a:t>
            </a:r>
          </a:p>
          <a:p>
            <a:r>
              <a:rPr sz="1200">
                <a:latin typeface="Calibri"/>
              </a:rPr>
              <a:t>comportamento normal. Então ela fica boa em reconstruir o normal e ruim em reconstruir</a:t>
            </a:r>
          </a:p>
          <a:p>
            <a:r>
              <a:rPr sz="1200">
                <a:latin typeface="Calibri"/>
              </a:rPr>
              <a:t>qualquer coisa diferente — e essa dificuldade de reconstruir é exatamente o nosso sinal.</a:t>
            </a:r>
          </a:p>
          <a:p>
            <a:r>
              <a:rPr sz="1200">
                <a:latin typeface="Calibri"/>
              </a:rPr>
              <a:t>À direita, a ficha técnica: perda MSE, otimizador Adam, no máximo 100 épocas mas parou em 71</a:t>
            </a:r>
          </a:p>
          <a:p>
            <a:r>
              <a:rPr sz="1200">
                <a:latin typeface="Calibri"/>
              </a:rPr>
              <a:t>por early stopping, lotes de 64 janelas, tudo em CPU."</a:t>
            </a:r>
          </a:p>
          <a:p/>
          <a:p>
            <a:r>
              <a:rPr sz="1200">
                <a:latin typeface="Calibri"/>
              </a:rPr>
              <a:t>ENTENDA — os conceitos deste slide</a:t>
            </a:r>
          </a:p>
          <a:p>
            <a:r>
              <a:rPr sz="1200">
                <a:latin typeface="Calibri"/>
              </a:rPr>
              <a:t>· nn.Module: a classe base do PyTorch. Herdar dela dá gerenciamento automático dos pesos e o</a:t>
            </a:r>
          </a:p>
          <a:p>
            <a:r>
              <a:rPr sz="1200">
                <a:latin typeface="Calibri"/>
              </a:rPr>
              <a:t>  encadeamento com otimizador e perda.</a:t>
            </a:r>
          </a:p>
          <a:p>
            <a:r>
              <a:rPr sz="1200">
                <a:latin typeface="Calibri"/>
              </a:rPr>
              <a:t>· FORWARD: o caminho da entrada até a saída. Você escreve só esse caminho; o PyTorch calcula</a:t>
            </a:r>
          </a:p>
          <a:p>
            <a:r>
              <a:rPr sz="1200">
                <a:latin typeface="Calibri"/>
              </a:rPr>
              <a:t>  as derivadas para trás sozinho (é o autograd).</a:t>
            </a:r>
          </a:p>
          <a:p>
            <a:r>
              <a:rPr sz="1200">
                <a:latin typeface="Calibri"/>
              </a:rPr>
              <a:t>· MLP (Multi-Layer Perceptron): rede de camadas totalmente conectadas, a mais simples que</a:t>
            </a:r>
          </a:p>
          <a:p>
            <a:r>
              <a:rPr sz="1200">
                <a:latin typeface="Calibri"/>
              </a:rPr>
              <a:t>  existe. Escolhemos ela por ser suficiente e barata; alternativas com memória temporal, como</a:t>
            </a:r>
          </a:p>
          <a:p>
            <a:r>
              <a:rPr sz="1200">
                <a:latin typeface="Calibri"/>
              </a:rPr>
              <a:t>  LSTM, estão citadas no documento como candidatas.</a:t>
            </a:r>
          </a:p>
          <a:p>
            <a:r>
              <a:rPr sz="1200">
                <a:latin typeface="Calibri"/>
              </a:rPr>
              <a:t>· ReLU: função de ativação. Sem uma função não linear entre as camadas, empilhar camadas</a:t>
            </a:r>
          </a:p>
          <a:p>
            <a:r>
              <a:rPr sz="1200">
                <a:latin typeface="Calibri"/>
              </a:rPr>
              <a:t>  lineares equivale a uma só — a rede não ganharia poder de representação.</a:t>
            </a:r>
          </a:p>
          <a:p>
            <a:r>
              <a:rPr sz="1200">
                <a:latin typeface="Calibri"/>
              </a:rPr>
              <a:t>· FUNÇÃO DE PERDA (MSELoss): o número que mede o quão errada está a saída. Aqui é o erro</a:t>
            </a:r>
          </a:p>
          <a:p>
            <a:r>
              <a:rPr sz="1200">
                <a:latin typeface="Calibri"/>
              </a:rPr>
              <a:t>  quadrático médio entre a janela original e a reconstruída. É o que o treino minimiza.</a:t>
            </a:r>
          </a:p>
          <a:p>
            <a:r>
              <a:rPr sz="1200">
                <a:latin typeface="Calibri"/>
              </a:rPr>
              <a:t>· OTIMIZADOR (Adam): o algoritmo que ajusta os pesos a cada lote, seguindo o gradiente da</a:t>
            </a:r>
          </a:p>
          <a:p>
            <a:r>
              <a:rPr sz="1200">
                <a:latin typeface="Calibri"/>
              </a:rPr>
              <a:t>  perda. Adam é o padrão prático — ajusta o passo automaticamente por parâmetro.</a:t>
            </a:r>
          </a:p>
          <a:p>
            <a:r>
              <a:rPr sz="1200">
                <a:latin typeface="Calibri"/>
              </a:rPr>
              <a:t>· LEARNING RATE (1e-3 = 0,001): o tamanho do passo. Grande demais, o treino oscila; pequeno</a:t>
            </a:r>
          </a:p>
          <a:p>
            <a:r>
              <a:rPr sz="1200">
                <a:latin typeface="Calibri"/>
              </a:rPr>
              <a:t>  demais, demora eternamente.</a:t>
            </a:r>
          </a:p>
          <a:p>
            <a:r>
              <a:rPr sz="1200">
                <a:latin typeface="Calibri"/>
              </a:rPr>
              <a:t>· BATCH SIZE (64): quantas janelas entram por vez antes de atualizar os pesos.</a:t>
            </a:r>
          </a:p>
          <a:p>
            <a:r>
              <a:rPr sz="1200">
                <a:latin typeface="Calibri"/>
              </a:rPr>
              <a:t>· ÉPOCA: uma passagem completa por todo o conjunto de treino.</a:t>
            </a:r>
          </a:p>
          <a:p>
            <a:r>
              <a:rPr sz="1200">
                <a:latin typeface="Calibri"/>
              </a:rPr>
              <a:t>· EARLY STOPPING: parar quando a validação para de melhorar (aqui, 10 épocas sem melhora). É</a:t>
            </a:r>
          </a:p>
          <a:p>
            <a:r>
              <a:rPr sz="1200">
                <a:latin typeface="Calibri"/>
              </a:rPr>
              <a:t>  o que evita overfitting e explica por que rodamos 71 e não 100 épocas.</a:t>
            </a:r>
          </a:p>
          <a:p>
            <a:r>
              <a:rPr sz="1200">
                <a:latin typeface="Calibri"/>
              </a:rPr>
              <a:t>· OVERFITTING: quando o modelo decora o treino em vez de aprender o padrão. Detecta-se</a:t>
            </a:r>
          </a:p>
          <a:p>
            <a:r>
              <a:rPr sz="1200">
                <a:latin typeface="Calibri"/>
              </a:rPr>
              <a:t>  olhando a curva de validação subir enquanto a de treino desce — está no slide 13.</a:t>
            </a:r>
          </a:p>
          <a:p>
            <a:r>
              <a:rPr sz="1200">
                <a:latin typeface="Calibri"/>
              </a:rPr>
              <a:t>· GRADIENT CLIPPING: limita o tamanho do ajuste quando o gradiente explode, evitando que uma</a:t>
            </a:r>
          </a:p>
          <a:p>
            <a:r>
              <a:rPr sz="1200">
                <a:latin typeface="Calibri"/>
              </a:rPr>
              <a:t>  única atualização destrua os pesos.</a:t>
            </a:r>
          </a:p>
          <a:p>
            <a:r>
              <a:rPr sz="1200">
                <a:latin typeface="Calibri"/>
              </a:rPr>
              <a:t>· STATE_DICT: dicionário com os pesos aprendidos. É o que salvamos.</a:t>
            </a:r>
          </a:p>
          <a:p/>
          <a:p>
            <a:r>
              <a:rPr sz="1200">
                <a:latin typeface="Calibri"/>
              </a:rPr>
              <a:t>SE PERGUNTAREM</a:t>
            </a:r>
          </a:p>
          <a:p>
            <a:r>
              <a:rPr sz="1200">
                <a:latin typeface="Calibri"/>
              </a:rPr>
              <a:t>P: "Por que não uma LSTM, já que é série temporal?"</a:t>
            </a:r>
          </a:p>
          <a:p>
            <a:r>
              <a:rPr sz="1200">
                <a:latin typeface="Calibri"/>
              </a:rPr>
              <a:t>R: "É a candidata natural, e está listada no documento de requisitos como alternativa. Optamos</a:t>
            </a:r>
          </a:p>
          <a:p>
            <a:r>
              <a:rPr sz="1200">
                <a:latin typeface="Calibri"/>
              </a:rPr>
              <a:t>   pelo autoencoder MLP porque a janela já dá contexto temporal ao modelo, o custo é muito</a:t>
            </a:r>
          </a:p>
          <a:p>
            <a:r>
              <a:rPr sz="1200">
                <a:latin typeface="Calibri"/>
              </a:rPr>
              <a:t>   menor e o escopo da disciplina pede a maquete funcional. Testar a LSTM é a nossa primeira</a:t>
            </a:r>
          </a:p>
          <a:p>
            <a:r>
              <a:rPr sz="1200">
                <a:latin typeface="Calibri"/>
              </a:rPr>
              <a:t>   melhoria futura."</a:t>
            </a:r>
          </a:p>
          <a:p>
            <a:r>
              <a:rPr sz="1200">
                <a:latin typeface="Calibri"/>
              </a:rPr>
              <a:t>P: "Por que achatar a janela? Isso não perde a ordem temporal?"</a:t>
            </a:r>
          </a:p>
          <a:p>
            <a:r>
              <a:rPr sz="1200">
                <a:latin typeface="Calibri"/>
              </a:rPr>
              <a:t>R: "Perde parcialmente: o MLP não tem noção explícita de sequência, ele vê 1900 posições fixas.</a:t>
            </a:r>
          </a:p>
          <a:p>
            <a:r>
              <a:rPr sz="1200">
                <a:latin typeface="Calibri"/>
              </a:rPr>
              <a:t>   A ordem ainda importa, porque cada posição corresponde sempre ao mesmo instante relativo,</a:t>
            </a:r>
          </a:p>
          <a:p>
            <a:r>
              <a:rPr sz="1200">
                <a:latin typeface="Calibri"/>
              </a:rPr>
              <a:t>   mas um modelo recorrente capturaria a dependência temporal melhor. É uma limitação</a:t>
            </a:r>
          </a:p>
          <a:p>
            <a:r>
              <a:rPr sz="1200">
                <a:latin typeface="Calibri"/>
              </a:rPr>
              <a:t>   assumida."</a:t>
            </a:r>
          </a:p>
          <a:p>
            <a:r>
              <a:rPr sz="1200">
                <a:latin typeface="Calibri"/>
              </a:rPr>
              <a:t>P: "Treinou em quanto tempo?"</a:t>
            </a:r>
          </a:p>
          <a:p>
            <a:r>
              <a:rPr sz="1200">
                <a:latin typeface="Calibri"/>
              </a:rPr>
              <a:t>R: "Cerca de dois minutos e meio em CPU — o que atende o RNF-03, que exigia treino viável sem</a:t>
            </a:r>
          </a:p>
          <a:p>
            <a:r>
              <a:rPr sz="1200">
                <a:latin typeface="Calibri"/>
              </a:rPr>
              <a:t>   GPU dedicada."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[TEMPO: 80s — é o slide mais denso; o achado é o que interessa]</a:t>
            </a:r>
          </a:p>
          <a:p/>
          <a:p>
            <a:r>
              <a:rPr sz="1200">
                <a:latin typeface="Calibri"/>
              </a:rPr>
              <a:t>ROTEIRO — o que dizer</a:t>
            </a:r>
          </a:p>
          <a:p>
            <a:r>
              <a:rPr sz="1200">
                <a:latin typeface="Calibri"/>
              </a:rPr>
              <a:t>"Aqui está o protocolo experimental e o que ele nos ensinou.</a:t>
            </a:r>
          </a:p>
          <a:p>
            <a:r>
              <a:rPr sz="1200">
                <a:latin typeface="Calibri"/>
              </a:rPr>
              <a:t>O protocolo: dividimos o arquivo de treino em 80% treino e 20% validação, em corte temporal,</a:t>
            </a:r>
          </a:p>
          <a:p>
            <a:r>
              <a:rPr sz="1200">
                <a:latin typeface="Calibri"/>
              </a:rPr>
              <a:t>sem embaralhar. O arquivo de teste só é tocado na avaliação final. Semente fixa em todas as</a:t>
            </a:r>
          </a:p>
          <a:p>
            <a:r>
              <a:rPr sz="1200">
                <a:latin typeface="Calibri"/>
              </a:rPr>
              <a:t>execuções, então a única coisa que muda entre elas é o hiperparâmetro sob teste.</a:t>
            </a:r>
          </a:p>
          <a:p>
            <a:r>
              <a:rPr sz="1200">
                <a:latin typeface="Calibri"/>
              </a:rPr>
              <a:t>Testamos quatro configurações: a base, uma com o gargalo estreitado para 8, uma com a janela</a:t>
            </a:r>
          </a:p>
          <a:p>
            <a:r>
              <a:rPr sz="1200">
                <a:latin typeface="Calibri"/>
              </a:rPr>
              <a:t>dobrada para 100 e uma com mais capacidade — gargalo 32 e camadas maiores.</a:t>
            </a:r>
          </a:p>
          <a:p>
            <a:r>
              <a:rPr sz="1200">
                <a:latin typeface="Calibri"/>
              </a:rPr>
              <a:t>Dois achados.</a:t>
            </a:r>
          </a:p>
          <a:p>
            <a:r>
              <a:rPr sz="1200">
                <a:latin typeface="Calibri"/>
              </a:rPr>
              <a:t>O primeiro é contraintuitivo e é o que eu mais gosto: reconstruir melhor não é detectar</a:t>
            </a:r>
          </a:p>
          <a:p>
            <a:r>
              <a:rPr sz="1200">
                <a:latin typeface="Calibri"/>
              </a:rPr>
              <a:t>melhor. A configuração D teve o MENOR erro de validação de todas, 0,157 — ela é a que melhor</a:t>
            </a:r>
          </a:p>
          <a:p>
            <a:r>
              <a:rPr sz="1200">
                <a:latin typeface="Calibri"/>
              </a:rPr>
              <a:t>reconstrói. E mesmo assim não lidera a detecção. A C, que reconstrói pior, tem o melhor F1 e</a:t>
            </a:r>
          </a:p>
          <a:p>
            <a:r>
              <a:rPr sz="1200">
                <a:latin typeface="Calibri"/>
              </a:rPr>
              <a:t>recall de 96%. A leitura é que capacidade demais faz o autoencoder reconstruir bem até o que</a:t>
            </a:r>
          </a:p>
          <a:p>
            <a:r>
              <a:rPr sz="1200">
                <a:latin typeface="Calibri"/>
              </a:rPr>
              <a:t>é anômalo, e aí a anomalia deixa de se destacar.</a:t>
            </a:r>
          </a:p>
          <a:p>
            <a:r>
              <a:rPr sz="1200">
                <a:latin typeface="Calibri"/>
              </a:rPr>
              <a:t>O segundo achado é a amplitude. Entre as quatro arquiteturas o F1 varia cerca de cinco</a:t>
            </a:r>
          </a:p>
          <a:p>
            <a:r>
              <a:rPr sz="1200">
                <a:latin typeface="Calibri"/>
              </a:rPr>
              <a:t>centésimos. Mexendo só no limiar, na mesma configuração, varia dezessete centésimos — mais</a:t>
            </a:r>
          </a:p>
          <a:p>
            <a:r>
              <a:rPr sz="1200">
                <a:latin typeface="Calibri"/>
              </a:rPr>
              <a:t>que o triplo. Olhem o gráfico: a precisão sai de 25% e vai a 83%, o recall cai de 88% para</a:t>
            </a:r>
          </a:p>
          <a:p>
            <a:r>
              <a:rPr sz="1200">
                <a:latin typeface="Calibri"/>
              </a:rPr>
              <a:t>43%.</a:t>
            </a:r>
          </a:p>
          <a:p>
            <a:r>
              <a:rPr sz="1200">
                <a:latin typeface="Calibri"/>
              </a:rPr>
              <a:t>A consequência prática: a decisão de maior impacto neste sistema não é qual arquitetura usar,</a:t>
            </a:r>
          </a:p>
          <a:p>
            <a:r>
              <a:rPr sz="1200">
                <a:latin typeface="Calibri"/>
              </a:rPr>
              <a:t>é onde colocar o corte. E é exatamente essa decisão que o nosso RF-06 coloca na mão do</a:t>
            </a:r>
          </a:p>
          <a:p>
            <a:r>
              <a:rPr sz="1200">
                <a:latin typeface="Calibri"/>
              </a:rPr>
              <a:t>coordenador de operações."</a:t>
            </a:r>
          </a:p>
          <a:p/>
          <a:p>
            <a:r>
              <a:rPr sz="1200">
                <a:latin typeface="Calibri"/>
              </a:rPr>
              <a:t>ENTENDA — os conceitos deste slide</a:t>
            </a:r>
          </a:p>
          <a:p>
            <a:r>
              <a:rPr sz="1200">
                <a:latin typeface="Calibri"/>
              </a:rPr>
              <a:t>· HIPERPARÂMETRO: o que você escolhe ANTES de treinar (tamanho do gargalo, taxa de</a:t>
            </a:r>
          </a:p>
          <a:p>
            <a:r>
              <a:rPr sz="1200">
                <a:latin typeface="Calibri"/>
              </a:rPr>
              <a:t>  aprendizado, tamanho do lote). Diferente do parâmetro, que é o peso que a rede aprende.</a:t>
            </a:r>
          </a:p>
          <a:p>
            <a:r>
              <a:rPr sz="1200">
                <a:latin typeface="Calibri"/>
              </a:rPr>
              <a:t>· CONTROLE DE VARIÁVEIS: mudar uma coisa por vez. Se mudássemos gargalo e janela juntos, não</a:t>
            </a:r>
          </a:p>
          <a:p>
            <a:r>
              <a:rPr sz="1200">
                <a:latin typeface="Calibri"/>
              </a:rPr>
              <a:t>  saberíamos a qual atribuir a diferença. É o mesmo princípio de qualquer experimento.</a:t>
            </a:r>
          </a:p>
          <a:p>
            <a:r>
              <a:rPr sz="1200">
                <a:latin typeface="Calibri"/>
              </a:rPr>
              <a:t>· SEMENTE (seed): número que fixa a aleatoriedade — inicialização dos pesos, ordem dos lotes.</a:t>
            </a:r>
          </a:p>
          <a:p>
            <a:r>
              <a:rPr sz="1200">
                <a:latin typeface="Calibri"/>
              </a:rPr>
              <a:t>  Com semente fixa, rodar de novo dá o mesmo resultado. Sem ela, não dá para comparar duas</a:t>
            </a:r>
          </a:p>
          <a:p>
            <a:r>
              <a:rPr sz="1200">
                <a:latin typeface="Calibri"/>
              </a:rPr>
              <a:t>  execuções, porque parte da diferença seria só sorte.</a:t>
            </a:r>
          </a:p>
          <a:p>
            <a:r>
              <a:rPr sz="1200">
                <a:latin typeface="Calibri"/>
              </a:rPr>
              <a:t>· VALIDAÇÃO vs TESTE: a validação serve para decidir quando parar de treinar; o teste serve</a:t>
            </a:r>
          </a:p>
          <a:p>
            <a:r>
              <a:rPr sz="1200">
                <a:latin typeface="Calibri"/>
              </a:rPr>
              <a:t>  para medir o resultado final. Se usássemos o teste para decidir quando parar, o número</a:t>
            </a:r>
          </a:p>
          <a:p>
            <a:r>
              <a:rPr sz="1200">
                <a:latin typeface="Calibri"/>
              </a:rPr>
              <a:t>  final estaria contaminado.</a:t>
            </a:r>
          </a:p>
          <a:p>
            <a:r>
              <a:rPr sz="1200">
                <a:latin typeface="Calibri"/>
              </a:rPr>
              <a:t>· POR QUE MAIS CAPACIDADE PIOROU A DETECÇÃO: o método depende do modelo ser RUIM em</a:t>
            </a:r>
          </a:p>
          <a:p>
            <a:r>
              <a:rPr sz="1200">
                <a:latin typeface="Calibri"/>
              </a:rPr>
              <a:t>  reconstruir o que é anômalo. Se a rede tem capacidade sobrando, ela aprende a reconstruir</a:t>
            </a:r>
          </a:p>
          <a:p>
            <a:r>
              <a:rPr sz="1200">
                <a:latin typeface="Calibri"/>
              </a:rPr>
              <a:t>  quase qualquer coisa — inclusive o que nunca viu — e o erro deixa de separar normal de</a:t>
            </a:r>
          </a:p>
          <a:p>
            <a:r>
              <a:rPr sz="1200">
                <a:latin typeface="Calibri"/>
              </a:rPr>
              <a:t>  anômalo. Apresente isso como a interpretação mais provável, não como fato provado: nós</a:t>
            </a:r>
          </a:p>
          <a:p>
            <a:r>
              <a:rPr sz="1200">
                <a:latin typeface="Calibri"/>
              </a:rPr>
              <a:t>  medimos o efeito, não isolamos a causa.</a:t>
            </a:r>
          </a:p>
          <a:p>
            <a:r>
              <a:rPr sz="1200">
                <a:latin typeface="Calibri"/>
              </a:rPr>
              <a:t>· ERRO DE VALIDAÇÃO vs QUALIDADE DA DETECÇÃO: são duas coisas diferentes, e este é o ponto</a:t>
            </a:r>
          </a:p>
          <a:p>
            <a:r>
              <a:rPr sz="1200">
                <a:latin typeface="Calibri"/>
              </a:rPr>
              <a:t>  fino do slide. O erro de validação mede o quanto a rede reconstrói bem o NORMAL; a detecção</a:t>
            </a:r>
          </a:p>
          <a:p>
            <a:r>
              <a:rPr sz="1200">
                <a:latin typeface="Calibri"/>
              </a:rPr>
              <a:t>  depende da DISTÂNCIA entre o erro no normal e o erro no anômalo. Otimizar o primeiro não</a:t>
            </a:r>
          </a:p>
          <a:p>
            <a:r>
              <a:rPr sz="1200">
                <a:latin typeface="Calibri"/>
              </a:rPr>
              <a:t>  garante o segundo.</a:t>
            </a:r>
          </a:p>
          <a:p>
            <a:r>
              <a:rPr sz="1200">
                <a:latin typeface="Calibri"/>
              </a:rPr>
              <a:t>· O QUE O PERCENTIL SIGNIFICA: p99,5 quer dizer "o valor abaixo do qual ficam 99,5% dos erros</a:t>
            </a:r>
          </a:p>
          <a:p>
            <a:r>
              <a:rPr sz="1200">
                <a:latin typeface="Calibri"/>
              </a:rPr>
              <a:t>  de treino". Subir para p99,9 é exigir um erro muito maior para chamar de anomalia — daí</a:t>
            </a:r>
          </a:p>
          <a:p>
            <a:r>
              <a:rPr sz="1200">
                <a:latin typeface="Calibri"/>
              </a:rPr>
              <a:t>  menos alertas, mais precisos, e mais anomalias escapando.</a:t>
            </a:r>
          </a:p>
          <a:p/>
          <a:p>
            <a:r>
              <a:rPr sz="1200">
                <a:latin typeface="Calibri"/>
              </a:rPr>
              <a:t>SE PERGUNTAREM</a:t>
            </a:r>
          </a:p>
          <a:p>
            <a:r>
              <a:rPr sz="1200">
                <a:latin typeface="Calibri"/>
              </a:rPr>
              <a:t>P: "Então o modelo não importa?"</a:t>
            </a:r>
          </a:p>
          <a:p>
            <a:r>
              <a:rPr sz="1200">
                <a:latin typeface="Calibri"/>
              </a:rPr>
              <a:t>R: "Importa: é ele que produz o escore, sem escore não há o que cortar. O que medimos é que,</a:t>
            </a:r>
          </a:p>
          <a:p>
            <a:r>
              <a:rPr sz="1200">
                <a:latin typeface="Calibri"/>
              </a:rPr>
              <a:t>   dentro da família que testamos, a capacidade não foi o fator dominante — e que aumentá-la</a:t>
            </a:r>
          </a:p>
          <a:p>
            <a:r>
              <a:rPr sz="1200">
                <a:latin typeface="Calibri"/>
              </a:rPr>
              <a:t>   chegou a atrapalhar. Um modelo de outra classe, como uma LSTM, poderia mudar o quadro;</a:t>
            </a:r>
          </a:p>
          <a:p>
            <a:r>
              <a:rPr sz="1200">
                <a:latin typeface="Calibri"/>
              </a:rPr>
              <a:t>   não testamos."</a:t>
            </a:r>
          </a:p>
          <a:p>
            <a:r>
              <a:rPr sz="1200">
                <a:latin typeface="Calibri"/>
              </a:rPr>
              <a:t>P: "Por que a configuração C, que é a melhor em F1, não virou a configuração oficial?"</a:t>
            </a:r>
          </a:p>
          <a:p>
            <a:r>
              <a:rPr sz="1200">
                <a:latin typeface="Calibri"/>
              </a:rPr>
              <a:t>R: "Porque a execução de referência do repositório é a A, e preferimos não trocar o resultado</a:t>
            </a:r>
          </a:p>
          <a:p>
            <a:r>
              <a:rPr sz="1200">
                <a:latin typeface="Calibri"/>
              </a:rPr>
              <a:t>   registrado no meio da apresentação. A C é a recomendação para o próximo ciclo — e note que</a:t>
            </a:r>
          </a:p>
          <a:p>
            <a:r>
              <a:rPr sz="1200">
                <a:latin typeface="Calibri"/>
              </a:rPr>
              <a:t>   ela custa o dobro de parâmetros e piora bastante no regime de precisão alta."</a:t>
            </a:r>
          </a:p>
          <a:p>
            <a:r>
              <a:rPr sz="1200">
                <a:latin typeface="Calibri"/>
              </a:rPr>
              <a:t>P: "Qual configuração vocês recomendariam em produção?"</a:t>
            </a:r>
          </a:p>
          <a:p>
            <a:r>
              <a:rPr sz="1200">
                <a:latin typeface="Calibri"/>
              </a:rPr>
              <a:t>R: "Depende do custo relativo. Se deixar passar um incidente custa mais que investigar um</a:t>
            </a:r>
          </a:p>
          <a:p>
            <a:r>
              <a:rPr sz="1200">
                <a:latin typeface="Calibri"/>
              </a:rPr>
              <a:t>   alerta falso — o caso típico de operação — fica p99,5 com recall alto. Se o plantão está</a:t>
            </a:r>
          </a:p>
          <a:p>
            <a:r>
              <a:rPr sz="1200">
                <a:latin typeface="Calibri"/>
              </a:rPr>
              <a:t>   saturado, p99,9 entrega três em cada quatro alertas corretos. A decisão é do negócio, e o</a:t>
            </a:r>
          </a:p>
          <a:p>
            <a:r>
              <a:rPr sz="1200">
                <a:latin typeface="Calibri"/>
              </a:rPr>
              <a:t>   sistema registra o limiar aplicado em cada execução justamente para essa escolha ser</a:t>
            </a:r>
          </a:p>
          <a:p>
            <a:r>
              <a:rPr sz="1200">
                <a:latin typeface="Calibri"/>
              </a:rPr>
              <a:t>   explícita."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[TEMPO: 55s — mostre a evidência de execução, é o que o enunciado pede]</a:t>
            </a:r>
          </a:p>
          <a:p/>
          <a:p>
            <a:r>
              <a:rPr sz="1200">
                <a:latin typeface="Calibri"/>
              </a:rPr>
              <a:t>ROTEIRO — o que dizer</a:t>
            </a:r>
          </a:p>
          <a:p>
            <a:r>
              <a:rPr sz="1200">
                <a:latin typeface="Calibri"/>
              </a:rPr>
              <a:t>"São 13 testes em unittest, organizados em quatro arquivos — um por pacote do src. Escolhi</a:t>
            </a:r>
          </a:p>
          <a:p>
            <a:r>
              <a:rPr sz="1200">
                <a:latin typeface="Calibri"/>
              </a:rPr>
              <a:t>três para mostrar.</a:t>
            </a:r>
          </a:p>
          <a:p>
            <a:r>
              <a:rPr sz="1200">
                <a:latin typeface="Calibri"/>
              </a:rPr>
              <a:t>O primeiro verifica uma propriedade matemática: depois de padronizar, a média de cada métrica</a:t>
            </a:r>
          </a:p>
          <a:p>
            <a:r>
              <a:rPr sz="1200">
                <a:latin typeface="Calibri"/>
              </a:rPr>
              <a:t>tem que ser aproximadamente zero. Não testamos que a função rodou; testamos que ela fez a</a:t>
            </a:r>
          </a:p>
          <a:p>
            <a:r>
              <a:rPr sz="1200">
                <a:latin typeface="Calibri"/>
              </a:rPr>
              <a:t>coisa certa.</a:t>
            </a:r>
          </a:p>
          <a:p>
            <a:r>
              <a:rPr sz="1200">
                <a:latin typeface="Calibri"/>
              </a:rPr>
              <a:t>O segundo é de contrato: a saída do autoencoder precisa ter exatamente o mesmo formato da</a:t>
            </a:r>
          </a:p>
          <a:p>
            <a:r>
              <a:rPr sz="1200">
                <a:latin typeface="Calibri"/>
              </a:rPr>
              <a:t>entrada. Se alguém mexer na arquitetura e quebrar isso, o teste pega na hora.</a:t>
            </a:r>
          </a:p>
          <a:p>
            <a:r>
              <a:rPr sz="1200">
                <a:latin typeface="Calibri"/>
              </a:rPr>
              <a:t>O terceiro é o mais interessante: salvar o modelo, carregar de volta numa instância nova, e</a:t>
            </a:r>
          </a:p>
          <a:p>
            <a:r>
              <a:rPr sz="1200">
                <a:latin typeface="Calibri"/>
              </a:rPr>
              <a:t>comparar peso a peso. É o que garante que o modelo salvo é o modelo treinado.</a:t>
            </a:r>
          </a:p>
          <a:p>
            <a:r>
              <a:rPr sz="1200">
                <a:latin typeface="Calibri"/>
              </a:rPr>
              <a:t>E aqui embaixo está a evidência de execução: Ran 13 tests, OK."</a:t>
            </a:r>
          </a:p>
          <a:p/>
          <a:p>
            <a:r>
              <a:rPr sz="1200">
                <a:latin typeface="Calibri"/>
              </a:rPr>
              <a:t>ENTENDA — os conceitos deste slide</a:t>
            </a:r>
          </a:p>
          <a:p>
            <a:r>
              <a:rPr sz="1200">
                <a:latin typeface="Calibri"/>
              </a:rPr>
              <a:t>· unittest: o framework de testes que vem com o Python, sem instalar nada. A disciplina exige</a:t>
            </a:r>
          </a:p>
          <a:p>
            <a:r>
              <a:rPr sz="1200">
                <a:latin typeface="Calibri"/>
              </a:rPr>
              <a:t>  ele e não o pytest.</a:t>
            </a:r>
          </a:p>
          <a:p>
            <a:r>
              <a:rPr sz="1200">
                <a:latin typeface="Calibri"/>
              </a:rPr>
              <a:t>· TestCase: a classe base. Cada método que começa com test_ é um teste, e roda isolado dos</a:t>
            </a:r>
          </a:p>
          <a:p>
            <a:r>
              <a:rPr sz="1200">
                <a:latin typeface="Calibri"/>
              </a:rPr>
              <a:t>  demais.</a:t>
            </a:r>
          </a:p>
          <a:p>
            <a:r>
              <a:rPr sz="1200">
                <a:latin typeface="Calibri"/>
              </a:rPr>
              <a:t>· setUp: método que roda ANTES de cada teste, preparando o cenário (nos nossos, criando dados</a:t>
            </a:r>
          </a:p>
          <a:p>
            <a:r>
              <a:rPr sz="1200">
                <a:latin typeface="Calibri"/>
              </a:rPr>
              <a:t>  sintéticos com semente fixa). Isso garante que um teste não contamine o outro.</a:t>
            </a:r>
          </a:p>
          <a:p>
            <a:r>
              <a:rPr sz="1200">
                <a:latin typeface="Calibri"/>
              </a:rPr>
              <a:t>· assertEqual / assert_allclose: as afirmações. A segunda é a versão do NumPy para números com</a:t>
            </a:r>
          </a:p>
          <a:p>
            <a:r>
              <a:rPr sz="1200">
                <a:latin typeface="Calibri"/>
              </a:rPr>
              <a:t>  casas decimais — comparar float com igualdade exata falha por arredondamento, então</a:t>
            </a:r>
          </a:p>
          <a:p>
            <a:r>
              <a:rPr sz="1200">
                <a:latin typeface="Calibri"/>
              </a:rPr>
              <a:t>  comparamos com uma tolerância (o atol=1e-10).</a:t>
            </a:r>
          </a:p>
          <a:p>
            <a:r>
              <a:rPr sz="1200">
                <a:latin typeface="Calibri"/>
              </a:rPr>
              <a:t>· SHAPE: as dimensões de uma matriz ou tensor. (batch, 50, 38) significa: um lote de janelas,</a:t>
            </a:r>
          </a:p>
          <a:p>
            <a:r>
              <a:rPr sz="1200">
                <a:latin typeface="Calibri"/>
              </a:rPr>
              <a:t>  cada uma com 50 instantes e 38 métricas.</a:t>
            </a:r>
          </a:p>
          <a:p>
            <a:r>
              <a:rPr sz="1200">
                <a:latin typeface="Calibri"/>
              </a:rPr>
              <a:t>· DTYPE float32: o tipo numérico. O PyTorch trabalha em float32 por padrão; se um tensor</a:t>
            </a:r>
          </a:p>
          <a:p>
            <a:r>
              <a:rPr sz="1200">
                <a:latin typeface="Calibri"/>
              </a:rPr>
              <a:t>  chegar como float64, algumas operações quebram. Por isso testamos o dtype explicitamente.</a:t>
            </a:r>
          </a:p>
          <a:p>
            <a:r>
              <a:rPr sz="1200">
                <a:latin typeface="Calibri"/>
              </a:rPr>
              <a:t>· POR QUE DADOS SINTÉTICOS NOS TESTES: os testes não dependem do dataset estar baixado. Eles</a:t>
            </a:r>
          </a:p>
          <a:p>
            <a:r>
              <a:rPr sz="1200">
                <a:latin typeface="Calibri"/>
              </a:rPr>
              <a:t>  geram uma matriz aleatória com semente fixa e verificam a propriedade. Assim a suíte roda em</a:t>
            </a:r>
          </a:p>
          <a:p>
            <a:r>
              <a:rPr sz="1200">
                <a:latin typeface="Calibri"/>
              </a:rPr>
              <a:t>  qualquer máquina, em menos de meio segundo.</a:t>
            </a:r>
          </a:p>
          <a:p/>
          <a:p>
            <a:r>
              <a:rPr sz="1200">
                <a:latin typeface="Calibri"/>
              </a:rPr>
              <a:t>SE PERGUNTAREM</a:t>
            </a:r>
          </a:p>
          <a:p>
            <a:r>
              <a:rPr sz="1200">
                <a:latin typeface="Calibri"/>
              </a:rPr>
              <a:t>P: "13 testes é pouco?"</a:t>
            </a:r>
          </a:p>
          <a:p>
            <a:r>
              <a:rPr sz="1200">
                <a:latin typeface="Calibri"/>
              </a:rPr>
              <a:t>R: "É o que cobre o que o enunciado pede: carregamento, pré-processamento, shape dos tensores,</a:t>
            </a:r>
          </a:p>
          <a:p>
            <a:r>
              <a:rPr sz="1200">
                <a:latin typeface="Calibri"/>
              </a:rPr>
              <a:t>   saída do modelo e o ciclo salvar/carregar. O que falta e reconhecemos: não há teste do</a:t>
            </a:r>
          </a:p>
          <a:p>
            <a:r>
              <a:rPr sz="1200">
                <a:latin typeface="Calibri"/>
              </a:rPr>
              <a:t>   cálculo das métricas nem do laço de treino completo — são as próximas a escrever."</a:t>
            </a:r>
          </a:p>
          <a:p>
            <a:r>
              <a:rPr sz="1200">
                <a:latin typeface="Calibri"/>
              </a:rPr>
              <a:t>P: "Como rodar?"</a:t>
            </a:r>
          </a:p>
          <a:p>
            <a:r>
              <a:rPr sz="1200">
                <a:latin typeface="Calibri"/>
              </a:rPr>
              <a:t>R: "python -m unittest discover -s tests, a partir da raiz do repositório. Está no README, com</a:t>
            </a:r>
          </a:p>
          <a:p>
            <a:r>
              <a:rPr sz="1200">
                <a:latin typeface="Calibri"/>
              </a:rPr>
              <a:t>   a evidência da execução."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[TEMPO: 75s — é o fechamento; termine no tempo e agradeça]</a:t>
            </a:r>
          </a:p>
          <a:p/>
          <a:p>
            <a:r>
              <a:rPr sz="1200">
                <a:latin typeface="Calibri"/>
              </a:rPr>
              <a:t>ROTEIRO — o que dizer</a:t>
            </a:r>
          </a:p>
          <a:p>
            <a:r>
              <a:rPr sz="1200">
                <a:latin typeface="Calibri"/>
              </a:rPr>
              <a:t>"Fechando com os resultados, em dois gráficos.</a:t>
            </a:r>
          </a:p>
          <a:p>
            <a:r>
              <a:rPr sz="1200">
                <a:latin typeface="Calibri"/>
              </a:rPr>
              <a:t>À esquerda, o treinamento: as curvas de treino e validação descem juntas e a validação</a:t>
            </a:r>
          </a:p>
          <a:p>
            <a:r>
              <a:rPr sz="1200">
                <a:latin typeface="Calibri"/>
              </a:rPr>
              <a:t>estabiliza por volta da época 61 — que é a melhor época, com erro 0,1896. O early stopping</a:t>
            </a:r>
          </a:p>
          <a:p>
            <a:r>
              <a:rPr sz="1200">
                <a:latin typeface="Calibri"/>
              </a:rPr>
              <a:t>parou na 71, e os pesos salvos são os da 61, não os da última. Repare que a validação não</a:t>
            </a:r>
          </a:p>
          <a:p>
            <a:r>
              <a:rPr sz="1200">
                <a:latin typeface="Calibri"/>
              </a:rPr>
              <a:t>sobe: não há sinal de overfitting sério.</a:t>
            </a:r>
          </a:p>
          <a:p>
            <a:r>
              <a:rPr sz="1200">
                <a:latin typeface="Calibri"/>
              </a:rPr>
              <a:t>À direita, o sistema funcionando no teste. A linha azul é o erro de cada janela em escala</a:t>
            </a:r>
          </a:p>
          <a:p>
            <a:r>
              <a:rPr sz="1200">
                <a:latin typeface="Calibri"/>
              </a:rPr>
              <a:t>logarítmica; a tracejada é o limiar; e as faixas rosa são as anomalias reais rotuladas.</a:t>
            </a:r>
          </a:p>
          <a:p>
            <a:r>
              <a:rPr sz="1200">
                <a:latin typeface="Calibri"/>
              </a:rPr>
              <a:t>Vejam que os picos maiores caem dentro das faixas — é o detector acertando. E vejam também,</a:t>
            </a:r>
          </a:p>
          <a:p>
            <a:r>
              <a:rPr sz="1200">
                <a:latin typeface="Calibri"/>
              </a:rPr>
              <a:t>com honestidade, que depois da metade da série há muito ponto azul acima do limiar fora das</a:t>
            </a:r>
          </a:p>
          <a:p>
            <a:r>
              <a:rPr sz="1200">
                <a:latin typeface="Calibri"/>
              </a:rPr>
              <a:t>faixas: são os falsos positivos que explicam a precisão de 25%.</a:t>
            </a:r>
          </a:p>
          <a:p>
            <a:r>
              <a:rPr sz="1200">
                <a:latin typeface="Calibri"/>
              </a:rPr>
              <a:t>Abaixo, os números da execução de referência, e o critério de aceitação atendido.</a:t>
            </a:r>
          </a:p>
          <a:p>
            <a:r>
              <a:rPr sz="1200">
                <a:latin typeface="Calibri"/>
              </a:rPr>
              <a:t>Respondendo às três perguntas do enunciado. Resolveu o problema? Sim, como maquete funcional:</a:t>
            </a:r>
          </a:p>
          <a:p>
            <a:r>
              <a:rPr sz="1200">
                <a:latin typeface="Calibri"/>
              </a:rPr>
              <a:t>o pipeline roda ponta a ponta e o critério de aceitação que definimos foi atendido nos dois</a:t>
            </a:r>
          </a:p>
          <a:p>
            <a:r>
              <a:rPr sz="1200">
                <a:latin typeface="Calibri"/>
              </a:rPr>
              <a:t>lados. Os requisitos foram atendidos? Cinco dos sete funcionais; dois parciais; um é</a:t>
            </a:r>
          </a:p>
          <a:p>
            <a:r>
              <a:rPr sz="1200">
                <a:latin typeface="Calibri"/>
              </a:rPr>
              <a:t>explicitamente do sistema-alvo.</a:t>
            </a:r>
          </a:p>
          <a:p>
            <a:r>
              <a:rPr sz="1200">
                <a:latin typeface="Calibri"/>
              </a:rPr>
              <a:t>E as limitações — que eu prefiro dizer do que esconder. A maior: o erro é agregado por janela,</a:t>
            </a:r>
          </a:p>
          <a:p>
            <a:r>
              <a:rPr sz="1200">
                <a:latin typeface="Calibri"/>
              </a:rPr>
              <a:t>não por métrica, e é isso que trava dois requisitos. A segunda: validamos numa máquina só. E</a:t>
            </a:r>
          </a:p>
          <a:p>
            <a:r>
              <a:rPr sz="1200">
                <a:latin typeface="Calibri"/>
              </a:rPr>
              <a:t>a terceira, a mais honesta: nunca medimos o baseline de limiar fixo, então o ganho do modelo</a:t>
            </a:r>
          </a:p>
          <a:p>
            <a:r>
              <a:rPr sz="1200">
                <a:latin typeface="Calibri"/>
              </a:rPr>
              <a:t>está argumentado e não provado.</a:t>
            </a:r>
          </a:p>
          <a:p>
            <a:r>
              <a:rPr sz="1200">
                <a:latin typeface="Calibri"/>
              </a:rPr>
              <a:t>Daí os próximos passos: decompor o erro por dimensão, medir o baseline, e testar uma LSTM."</a:t>
            </a:r>
          </a:p>
          <a:p/>
          <a:p>
            <a:r>
              <a:rPr sz="1200">
                <a:latin typeface="Calibri"/>
              </a:rPr>
              <a:t>ENTENDA — os conceitos deste slide</a:t>
            </a:r>
          </a:p>
          <a:p>
            <a:r>
              <a:rPr sz="1200">
                <a:latin typeface="Calibri"/>
              </a:rPr>
              <a:t>· COMO LER A CURVA (gráfico da esquerda): eixo x são as épocas, eixo y é o erro. Treino e</a:t>
            </a:r>
          </a:p>
          <a:p>
            <a:r>
              <a:rPr sz="1200">
                <a:latin typeface="Calibri"/>
              </a:rPr>
              <a:t>  validação descendo juntas = a rede está aprendendo padrão de verdade. Se a de treino</a:t>
            </a:r>
          </a:p>
          <a:p>
            <a:r>
              <a:rPr sz="1200">
                <a:latin typeface="Calibri"/>
              </a:rPr>
              <a:t>  continuasse caindo e a de validação começasse a subir, seria overfitting — a rede estaria</a:t>
            </a:r>
          </a:p>
          <a:p>
            <a:r>
              <a:rPr sz="1200">
                <a:latin typeface="Calibri"/>
              </a:rPr>
              <a:t>  decorando.</a:t>
            </a:r>
          </a:p>
          <a:p>
            <a:r>
              <a:rPr sz="1200">
                <a:latin typeface="Calibri"/>
              </a:rPr>
              <a:t>· COMO LER O GRÁFICO DA DIREITA: cada ponto da linha azul é uma janela do teste, na ordem em</a:t>
            </a:r>
          </a:p>
          <a:p>
            <a:r>
              <a:rPr sz="1200">
                <a:latin typeface="Calibri"/>
              </a:rPr>
              <a:t>  que aconteceu, e a altura é o erro dela. A escala é logarítmica — cada marca do eixo é 100</a:t>
            </a:r>
          </a:p>
          <a:p>
            <a:r>
              <a:rPr sz="1200">
                <a:latin typeface="Calibri"/>
              </a:rPr>
              <a:t>  vezes a anterior — porque os picos são milhões de vezes maiores que o normal e, numa escala</a:t>
            </a:r>
          </a:p>
          <a:p>
            <a:r>
              <a:rPr sz="1200">
                <a:latin typeface="Calibri"/>
              </a:rPr>
              <a:t>  comum, tudo viraria uma linha rente ao chão com três espetos. Tudo que está acima da linha</a:t>
            </a:r>
          </a:p>
          <a:p>
            <a:r>
              <a:rPr sz="1200">
                <a:latin typeface="Calibri"/>
              </a:rPr>
              <a:t>  tracejada é sinalizado como anomalia pelo sistema; as faixas rosa são as anomalias</a:t>
            </a:r>
          </a:p>
          <a:p>
            <a:r>
              <a:rPr sz="1200">
                <a:latin typeface="Calibri"/>
              </a:rPr>
              <a:t>  verdadeiras. Acerto = pico dentro da faixa. Falso positivo = ponto acima da linha fora da</a:t>
            </a:r>
          </a:p>
          <a:p>
            <a:r>
              <a:rPr sz="1200">
                <a:latin typeface="Calibri"/>
              </a:rPr>
              <a:t>  faixa.</a:t>
            </a:r>
          </a:p>
          <a:p>
            <a:r>
              <a:rPr sz="1200">
                <a:latin typeface="Calibri"/>
              </a:rPr>
              <a:t>· POR QUE A VALIDAÇÃO FICA ACIMA DO TREINO: normal e esperado. O modelo viu os dados de treino</a:t>
            </a:r>
          </a:p>
          <a:p>
            <a:r>
              <a:rPr sz="1200">
                <a:latin typeface="Calibri"/>
              </a:rPr>
              <a:t>  e nunca viu os de validação. A distância entre as duas é pequena aqui, o que é bom sinal.</a:t>
            </a:r>
          </a:p>
          <a:p>
            <a:r>
              <a:rPr sz="1200">
                <a:latin typeface="Calibri"/>
              </a:rPr>
              <a:t>· MELHOR ÉPOCA vs ÚLTIMA ÉPOCA: com early stopping o treino continua um pouco além do melhor</a:t>
            </a:r>
          </a:p>
          <a:p>
            <a:r>
              <a:rPr sz="1200">
                <a:latin typeface="Calibri"/>
              </a:rPr>
              <a:t>  ponto, para confirmar que não vai melhorar. Guardamos os pesos da melhor época e registramos</a:t>
            </a:r>
          </a:p>
          <a:p>
            <a:r>
              <a:rPr sz="1200">
                <a:latin typeface="Calibri"/>
              </a:rPr>
              <a:t>  qual foi — senão o número reportado não corresponderia ao modelo salvo.</a:t>
            </a:r>
          </a:p>
          <a:p>
            <a:r>
              <a:rPr sz="1200">
                <a:latin typeface="Calibri"/>
              </a:rPr>
              <a:t>· "MAQUETE FUNCIONAL": é o termo do próprio enunciado. O professor pediu explicitamente que o</a:t>
            </a:r>
          </a:p>
          <a:p>
            <a:r>
              <a:rPr sz="1200">
                <a:latin typeface="Calibri"/>
              </a:rPr>
              <a:t>  projeto NÃO precisa estar finalizado, e sim ter os blocos principais implementados. Nossa</a:t>
            </a:r>
          </a:p>
          <a:p>
            <a:r>
              <a:rPr sz="1200">
                <a:latin typeface="Calibri"/>
              </a:rPr>
              <a:t>  postura de declarar as lacunas está alinhada com isso — não é confissão de fracasso.</a:t>
            </a:r>
          </a:p>
          <a:p>
            <a:r>
              <a:rPr sz="1200">
                <a:latin typeface="Calibri"/>
              </a:rPr>
              <a:t>· POR QUE O F1 PARECE BAIXO: porque o limiar está calibrado para recall. O F1 trata precisão e</a:t>
            </a:r>
          </a:p>
          <a:p>
            <a:r>
              <a:rPr sz="1200">
                <a:latin typeface="Calibri"/>
              </a:rPr>
              <a:t>  recall como igualmente importantes, o que não é o nosso caso de uso. Se ajustarmos o limiar</a:t>
            </a:r>
          </a:p>
          <a:p>
            <a:r>
              <a:rPr sz="1200">
                <a:latin typeface="Calibri"/>
              </a:rPr>
              <a:t>  para maximizar F1 (p99,9), ele vai a 0,57 — está no slide anterior.</a:t>
            </a:r>
          </a:p>
          <a:p/>
          <a:p>
            <a:r>
              <a:rPr sz="1200">
                <a:latin typeface="Calibri"/>
              </a:rPr>
              <a:t>SE PERGUNTAREM</a:t>
            </a:r>
          </a:p>
          <a:p>
            <a:r>
              <a:rPr sz="1200">
                <a:latin typeface="Calibri"/>
              </a:rPr>
              <a:t>P: "Vocês considerariam o projeto bem-sucedido?"</a:t>
            </a:r>
          </a:p>
          <a:p>
            <a:r>
              <a:rPr sz="1200">
                <a:latin typeface="Calibri"/>
              </a:rPr>
              <a:t>R: "Como maquete funcional, sim, e temos o critério de aceitação atendido para sustentar isso.</a:t>
            </a:r>
          </a:p>
          <a:p>
            <a:r>
              <a:rPr sz="1200">
                <a:latin typeface="Calibri"/>
              </a:rPr>
              <a:t>   Como sistema de produção, não — falta a explicabilidade por métrica, que é o que tornaria o</a:t>
            </a:r>
          </a:p>
          <a:p>
            <a:r>
              <a:rPr sz="1200">
                <a:latin typeface="Calibri"/>
              </a:rPr>
              <a:t>   alerta acionável para quem está de plantão."</a:t>
            </a:r>
          </a:p>
          <a:p>
            <a:r>
              <a:rPr sz="1200">
                <a:latin typeface="Calibri"/>
              </a:rPr>
              <a:t>P: "Qual foi a maior lição de engenharia de software aqui?"</a:t>
            </a:r>
          </a:p>
          <a:p>
            <a:r>
              <a:rPr sz="1200">
                <a:latin typeface="Calibri"/>
              </a:rPr>
              <a:t>R: "Que formalizar requisito muda o projeto. Ao traduzir 'não quero muito alarme falso' em uma</a:t>
            </a:r>
          </a:p>
          <a:p>
            <a:r>
              <a:rPr sz="1200">
                <a:latin typeface="Calibri"/>
              </a:rPr>
              <a:t>   métrica, descobrimos que nosso resultado era três vezes pior do que teríamos prometido no</a:t>
            </a:r>
          </a:p>
          <a:p>
            <a:r>
              <a:rPr sz="1200">
                <a:latin typeface="Calibri"/>
              </a:rPr>
              <a:t>   olhômetro. E ao escrever o RNF-02 percebemos um requisito que o código não atende. Sem a</a:t>
            </a:r>
          </a:p>
          <a:p>
            <a:r>
              <a:rPr sz="1200">
                <a:latin typeface="Calibri"/>
              </a:rPr>
              <a:t>   formalização, os dois passariam despercebidos."</a:t>
            </a:r>
          </a:p>
          <a:p/>
          <a:p>
            <a:r>
              <a:rPr sz="1200">
                <a:latin typeface="Calibri"/>
              </a:rPr>
              <a:t>FECHAMENTO SUGERIDO: "É isso. O repositório está no link do primeiro slide, com o documento de</a:t>
            </a:r>
          </a:p>
          <a:p>
            <a:r>
              <a:rPr sz="1200">
                <a:latin typeface="Calibri"/>
              </a:rPr>
              <a:t>requisitos, o de arquitetura e a suíte de testes. Obrigado."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C6C8F"/>
                </a:solidFill>
                <a:latin typeface="Calibri"/>
              </a:rPr>
              <a:t>PROJETO INTEGRADOR  ·  ENGENHARIA DE SOFTWARE PARA IA E FRAMEWORKS PROFUNDOS  ·  CIn  ·  GRUPO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FFFFF"/>
                </a:solidFill>
                <a:latin typeface="Calibri"/>
              </a:rPr>
              <a:t>Detector de Anomalias em Métricas de Servidores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91056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C6C8F"/>
                </a:solidFill>
                <a:latin typeface="Calibri"/>
              </a:rPr>
              <a:t>Detecção não supervisionada de comportamento anômalo em séries temporais multivariadas — dataset SMD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048256"/>
            <a:ext cx="1280160" cy="45720"/>
          </a:xfrm>
          <a:prstGeom prst="rect">
            <a:avLst/>
          </a:prstGeom>
          <a:solidFill>
            <a:srgbClr val="C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304288"/>
            <a:ext cx="5989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8862A"/>
                </a:solidFill>
                <a:latin typeface="Calibri"/>
              </a:rPr>
              <a:t>PROBLEMA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519172"/>
            <a:ext cx="5989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Cada servidor publica 38 métricas ao mesmo tempo. Degradações que só aparecem na combinação dos sinais passam despercebidas até virarem incidente.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090672"/>
            <a:ext cx="5989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8862A"/>
                </a:solidFill>
                <a:latin typeface="Calibri"/>
              </a:rPr>
              <a:t>MOTIVAÇÃO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305556"/>
            <a:ext cx="5989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O monitoramento hoje depende de limiar fixo por métrica e inspeção manual de painéis: alerta demais no trivial e tarde no que importa.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877056"/>
            <a:ext cx="5989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8862A"/>
                </a:solidFill>
                <a:latin typeface="Calibri"/>
              </a:rPr>
              <a:t>PÚBLICO-ALVO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091940"/>
            <a:ext cx="5989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Analista de Operações / SRE (recebe o sinal e faz a triagem) e Coordenador de Observabilidade (decide manter, recalibrar ou retreinar o detector).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663440"/>
            <a:ext cx="5989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8862A"/>
                </a:solidFill>
                <a:latin typeface="Calibri"/>
              </a:rPr>
              <a:t>OBJETIVO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878324"/>
            <a:ext cx="5989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Sinalizar automaticamente as janelas de tempo em que a máquina se afasta do padrão normal que ela mesma exibiu no passado.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449824"/>
            <a:ext cx="5989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8862A"/>
                </a:solidFill>
                <a:latin typeface="Calibri"/>
              </a:rPr>
              <a:t>PAPEL DA 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664708"/>
            <a:ext cx="5989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Um autoencoder aprende a reconstruir o comportamento normal. O que ele reconstrói mal é o que não se parece com o normal — esse erro é o escore de anomalia.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67728" y="2212848"/>
            <a:ext cx="4572000" cy="2880360"/>
          </a:xfrm>
          <a:prstGeom prst="rect">
            <a:avLst/>
          </a:prstGeom>
          <a:noFill/>
          <a:ln w="9525">
            <a:solidFill>
              <a:srgbClr val="2C6C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2395728"/>
            <a:ext cx="4114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8862A"/>
                </a:solidFill>
                <a:latin typeface="Calibri"/>
              </a:rPr>
              <a:t>EQUIPE — GRUPO 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670048"/>
            <a:ext cx="4114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Breno Alexandre de Albuquerque Santos</a:t>
            </a:r>
          </a:p>
          <a:p>
            <a:pPr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Erasmo de Melo Gusmão</a:t>
            </a:r>
          </a:p>
          <a:p>
            <a:pPr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Gabriel Victor Alves Santana</a:t>
            </a:r>
          </a:p>
          <a:p>
            <a:pPr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João Mateus Queiroz Moreira</a:t>
            </a:r>
          </a:p>
          <a:p>
            <a:pPr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João Pedro da Silva Rodrigues</a:t>
            </a:r>
          </a:p>
          <a:p>
            <a:pPr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Leonardo Canuto de Oliveira Magalhães</a:t>
            </a:r>
          </a:p>
          <a:p>
            <a:pPr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Orlando Gomes dos Reis Neto</a:t>
            </a:r>
          </a:p>
          <a:p>
            <a:pPr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Pedro Oliveira Pessoa Guerra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67728" y="5285232"/>
            <a:ext cx="4572000" cy="841248"/>
          </a:xfrm>
          <a:prstGeom prst="rect">
            <a:avLst/>
          </a:prstGeom>
          <a:solidFill>
            <a:srgbClr val="C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5449824"/>
            <a:ext cx="4114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32A2E"/>
                </a:solidFill>
                <a:latin typeface="Calibri"/>
              </a:rPr>
              <a:t>REPOSITÓRIO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566928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32A2E"/>
                </a:solidFill>
                <a:latin typeface="Calibri"/>
              </a:rPr>
              <a:t>github.com/ErasmoGusmao/detector-anomalias-smd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C6C8F"/>
                </a:solidFill>
                <a:latin typeface="Calibri"/>
              </a:rPr>
              <a:t>RESUMO DO PROJETO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3A52"/>
                </a:solidFill>
                <a:latin typeface="Calibri"/>
              </a:rPr>
              <a:t>Dados e solução proposta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97864"/>
            <a:ext cx="1051560" cy="41148"/>
          </a:xfrm>
          <a:prstGeom prst="rect">
            <a:avLst/>
          </a:prstGeom>
          <a:solidFill>
            <a:srgbClr val="C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780"/>
                </a:solidFill>
                <a:latin typeface="Calibri"/>
              </a:rPr>
              <a:t>Detector de Anomalias em Métricas de Servidores (SMD)  |  Grupo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2823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780"/>
                </a:solidFill>
                <a:latin typeface="Calibri"/>
              </a:rPr>
              <a:t>2/13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81328"/>
            <a:ext cx="2615184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481328"/>
            <a:ext cx="50292" cy="1060704"/>
          </a:xfrm>
          <a:prstGeom prst="rect">
            <a:avLst/>
          </a:prstGeom>
          <a:solidFill>
            <a:srgbClr val="C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627632"/>
            <a:ext cx="224942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3A52"/>
                </a:solidFill>
                <a:latin typeface="Calibri"/>
              </a:rPr>
              <a:t>28.479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048256"/>
            <a:ext cx="22494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7780"/>
                </a:solidFill>
                <a:latin typeface="Calibri"/>
              </a:rPr>
              <a:t>amostras de treino
(só comportamento normal)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55848" y="1481328"/>
            <a:ext cx="2615184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55848" y="1481328"/>
            <a:ext cx="50292" cy="1060704"/>
          </a:xfrm>
          <a:prstGeom prst="rect">
            <a:avLst/>
          </a:prstGeom>
          <a:solidFill>
            <a:srgbClr val="C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75304" y="1627632"/>
            <a:ext cx="224942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3A52"/>
                </a:solidFill>
                <a:latin typeface="Calibri"/>
              </a:rPr>
              <a:t>28.479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5304" y="2048256"/>
            <a:ext cx="22494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7780"/>
                </a:solidFill>
                <a:latin typeface="Calibri"/>
              </a:rPr>
              <a:t>amostras de teste
(com anomalias rotuladas)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4768" y="1481328"/>
            <a:ext cx="2615184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44768" y="1481328"/>
            <a:ext cx="50292" cy="1060704"/>
          </a:xfrm>
          <a:prstGeom prst="rect">
            <a:avLst/>
          </a:prstGeom>
          <a:solidFill>
            <a:srgbClr val="C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1627632"/>
            <a:ext cx="224942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3A52"/>
                </a:solidFill>
                <a:latin typeface="Calibri"/>
              </a:rPr>
              <a:t>38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2048256"/>
            <a:ext cx="22494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7780"/>
                </a:solidFill>
                <a:latin typeface="Calibri"/>
              </a:rPr>
              <a:t>métricas por instante
(atributos de entrada)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33688" y="1481328"/>
            <a:ext cx="2615184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33688" y="1481328"/>
            <a:ext cx="50292" cy="1060704"/>
          </a:xfrm>
          <a:prstGeom prst="rect">
            <a:avLst/>
          </a:prstGeom>
          <a:solidFill>
            <a:srgbClr val="C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53144" y="1627632"/>
            <a:ext cx="224942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3A52"/>
                </a:solidFill>
                <a:latin typeface="Calibri"/>
              </a:rPr>
              <a:t>9,46%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53144" y="2048256"/>
            <a:ext cx="22494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7780"/>
                </a:solidFill>
                <a:latin typeface="Calibri"/>
              </a:rPr>
              <a:t>taxa base de anomalia
(2.694 instantes)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2798064"/>
            <a:ext cx="5440680" cy="34015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2798064"/>
            <a:ext cx="50292" cy="3401568"/>
          </a:xfrm>
          <a:prstGeom prst="rect">
            <a:avLst/>
          </a:prstGeom>
          <a:solidFill>
            <a:srgbClr val="0F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2980944"/>
            <a:ext cx="4983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C6C8F"/>
                </a:solidFill>
                <a:latin typeface="Calibri"/>
              </a:rPr>
              <a:t>BASE DE DADOS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255264"/>
            <a:ext cx="4928616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1500" b="1" i="0">
                <a:solidFill>
                  <a:srgbClr val="0F3A52"/>
                </a:solidFill>
                <a:latin typeface="Calibri"/>
              </a:rPr>
              <a:t>SMD — Server Machine Dataset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 i="0">
                <a:solidFill>
                  <a:srgbClr val="232A2E"/>
                </a:solidFill>
                <a:latin typeface="Calibri"/>
              </a:rPr>
              <a:t>Origem: coletado do trabalho OmniAnomaly (NetManAIOps) e publicado no Kaggle. São métricas reais de operação de servidores, anonimizadas.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 i="0">
                <a:solidFill>
                  <a:srgbClr val="232A2E"/>
                </a:solidFill>
                <a:latin typeface="Calibri"/>
              </a:rPr>
              <a:t>Dimensão original: 28 máquinas × 38 métricas, cada máquina com sua própria série temporal completa.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 i="0">
                <a:solidFill>
                  <a:srgbClr val="232A2E"/>
                </a:solidFill>
                <a:latin typeface="Calibri"/>
              </a:rPr>
              <a:t>Recorte do projeto: a máquina machine-1-1, definida em config.py. Uma máquina já é uma série multivariada completa — o recorte reduz custo sem descaracterizar o problema.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 i="0">
                <a:solidFill>
                  <a:srgbClr val="232A2E"/>
                </a:solidFill>
                <a:latin typeface="Calibri"/>
              </a:rPr>
              <a:t>Arquivos: train (metade inicial, sem anomalia) · test (metade final) · test_label (rótulo 0/1 por instante, usado só na avaliação).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81344" y="2798064"/>
            <a:ext cx="5440680" cy="34015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81344" y="2798064"/>
            <a:ext cx="50292" cy="3401568"/>
          </a:xfrm>
          <a:prstGeom prst="rect">
            <a:avLst/>
          </a:prstGeom>
          <a:solidFill>
            <a:srgbClr val="C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37376" y="2980944"/>
            <a:ext cx="4983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C6C8F"/>
                </a:solidFill>
                <a:latin typeface="Calibri"/>
              </a:rPr>
              <a:t>SOLUÇÃO PROPOSTA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37376" y="3255264"/>
            <a:ext cx="4928616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1500" b="1" i="0">
                <a:solidFill>
                  <a:srgbClr val="0F3A52"/>
                </a:solidFill>
                <a:latin typeface="Calibri"/>
              </a:rPr>
              <a:t>Autoencoder treinado só com o normal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 i="0">
                <a:solidFill>
                  <a:srgbClr val="232A2E"/>
                </a:solidFill>
                <a:latin typeface="Calibri"/>
              </a:rPr>
              <a:t>ENTRADA  →  janela de 50 instantes consecutivos × 38 métricas padronizadas (z-score), deslocando de 1 em 1.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 i="0">
                <a:solidFill>
                  <a:srgbClr val="232A2E"/>
                </a:solidFill>
                <a:latin typeface="Calibri"/>
              </a:rPr>
              <a:t>SAÍDA  →  (a) escore de anomalia = erro de reconstrução da janela; (b) classificação binária normal / anômala.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 i="0">
                <a:solidFill>
                  <a:srgbClr val="232A2E"/>
                </a:solidFill>
                <a:latin typeface="Calibri"/>
              </a:rPr>
              <a:t>VARIÁVEL PREVISTA  →  o rótulo binário da janela. Repare: o rótulo NÃO entra no treino, só na avaliação — por isso a abordagem é não supervisionada.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 i="0">
                <a:solidFill>
                  <a:srgbClr val="232A2E"/>
                </a:solidFill>
                <a:latin typeface="Calibri"/>
              </a:rPr>
              <a:t>DECISÃO  →  a janela é anômala quando o escore ultrapassa um limiar derivado do percentil dos erros do próprio conjunto de treino.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C6C8F"/>
                </a:solidFill>
                <a:latin typeface="Calibri"/>
              </a:rPr>
              <a:t>REQUISITOS · ELICITADOS COM GR4ML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3A52"/>
                </a:solidFill>
                <a:latin typeface="Calibri"/>
              </a:rPr>
              <a:t>Requisitos funcionais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97864"/>
            <a:ext cx="1051560" cy="41148"/>
          </a:xfrm>
          <a:prstGeom prst="rect">
            <a:avLst/>
          </a:prstGeom>
          <a:solidFill>
            <a:srgbClr val="C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780"/>
                </a:solidFill>
                <a:latin typeface="Calibri"/>
              </a:rPr>
              <a:t>Detector de Anomalias em Métricas de Servidores (SMD)  |  Grupo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2823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780"/>
                </a:solidFill>
                <a:latin typeface="Calibri"/>
              </a:rPr>
              <a:t>3/13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780"/>
                </a:solidFill>
                <a:latin typeface="Calibri"/>
              </a:rPr>
              <a:t>Elicitados com o framework GR4ML: cada RF nasce de um Decision Goal + Question Goal da Business View — a origem está registrada no documento, e é ela que dá rastreabilidade.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901952"/>
          <a:ext cx="11057837" cy="33101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9337"/>
                <a:gridCol w="8348668"/>
                <a:gridCol w="1879832"/>
              </a:tblGrid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RF</a:t>
                      </a:r>
                    </a:p>
                  </a:txBody>
                  <a:tcPr marL="82296" marR="64008" marT="27432" marB="27432" anchor="ctr">
                    <a:solidFill>
                      <a:srgbClr val="0F3A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 sistema deve...</a:t>
                      </a:r>
                    </a:p>
                  </a:txBody>
                  <a:tcPr marL="82296" marR="64008" marT="27432" marB="27432" anchor="ctr">
                    <a:solidFill>
                      <a:srgbClr val="0F3A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Status no protótipo</a:t>
                      </a:r>
                    </a:p>
                  </a:txBody>
                  <a:tcPr marL="82296" marR="64008" marT="27432" marB="27432" anchor="ctr">
                    <a:solidFill>
                      <a:srgbClr val="0F3A52"/>
                    </a:solidFill>
                  </a:tcPr>
                </a:tc>
              </a:tr>
              <a:tr h="425849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1">
                          <a:solidFill>
                            <a:srgbClr val="2E7D5B"/>
                          </a:solidFill>
                          <a:latin typeface="Calibri"/>
                        </a:rPr>
                        <a:t>RF-01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32A2E"/>
                          </a:solidFill>
                          <a:latin typeface="Calibri"/>
                        </a:rPr>
                        <a:t>calcular um escore de anomalia para cada janela de 50 instantes, a partir do erro de reconstrução das 38 métricas padronizadas.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32A2E"/>
                          </a:solidFill>
                          <a:latin typeface="Calibri"/>
                        </a:rPr>
                        <a:t>Atendido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425849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1">
                          <a:solidFill>
                            <a:srgbClr val="2E7D5B"/>
                          </a:solidFill>
                          <a:latin typeface="Calibri"/>
                        </a:rPr>
                        <a:t>RF-02</a:t>
                      </a:r>
                    </a:p>
                  </a:txBody>
                  <a:tcPr marL="82296" marR="64008" marT="27432" marB="27432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32A2E"/>
                          </a:solidFill>
                          <a:latin typeface="Calibri"/>
                        </a:rPr>
                        <a:t>classificar cada janela como normal ou anômala, comparando seu escore ao limiar vigente.</a:t>
                      </a:r>
                    </a:p>
                  </a:txBody>
                  <a:tcPr marL="82296" marR="64008" marT="27432" marB="27432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32A2E"/>
                          </a:solidFill>
                          <a:latin typeface="Calibri"/>
                        </a:rPr>
                        <a:t>Atendido</a:t>
                      </a:r>
                    </a:p>
                  </a:txBody>
                  <a:tcPr marL="82296" marR="64008" marT="27432" marB="27432" anchor="ctr">
                    <a:solidFill>
                      <a:srgbClr val="EAF1F5"/>
                    </a:solidFill>
                  </a:tcPr>
                </a:tc>
              </a:tr>
              <a:tr h="425849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1">
                          <a:solidFill>
                            <a:srgbClr val="A8442C"/>
                          </a:solidFill>
                          <a:latin typeface="Calibri"/>
                        </a:rPr>
                        <a:t>RF-03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32A2E"/>
                          </a:solidFill>
                          <a:latin typeface="Calibri"/>
                        </a:rPr>
                        <a:t>disponibilizar, para cada janela anômala, o erro decomposto por métrica, ordenado por contribuição.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32A2E"/>
                          </a:solidFill>
                          <a:latin typeface="Calibri"/>
                        </a:rPr>
                        <a:t>Do sistema-alvo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425849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1">
                          <a:solidFill>
                            <a:srgbClr val="2E7D5B"/>
                          </a:solidFill>
                          <a:latin typeface="Calibri"/>
                        </a:rPr>
                        <a:t>RF-04</a:t>
                      </a:r>
                    </a:p>
                  </a:txBody>
                  <a:tcPr marL="82296" marR="64008" marT="27432" marB="27432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32A2E"/>
                          </a:solidFill>
                          <a:latin typeface="Calibri"/>
                        </a:rPr>
                        <a:t>aprender o padrão normal da máquina a partir da partição de treino, sem usar rótulos.</a:t>
                      </a:r>
                    </a:p>
                  </a:txBody>
                  <a:tcPr marL="82296" marR="64008" marT="27432" marB="27432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32A2E"/>
                          </a:solidFill>
                          <a:latin typeface="Calibri"/>
                        </a:rPr>
                        <a:t>Atendido</a:t>
                      </a:r>
                    </a:p>
                  </a:txBody>
                  <a:tcPr marL="82296" marR="64008" marT="27432" marB="27432" anchor="ctr">
                    <a:solidFill>
                      <a:srgbClr val="EAF1F5"/>
                    </a:solidFill>
                  </a:tcPr>
                </a:tc>
              </a:tr>
              <a:tr h="425849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1">
                          <a:solidFill>
                            <a:srgbClr val="C8862A"/>
                          </a:solidFill>
                          <a:latin typeface="Calibri"/>
                        </a:rPr>
                        <a:t>RF-05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32A2E"/>
                          </a:solidFill>
                          <a:latin typeface="Calibri"/>
                        </a:rPr>
                        <a:t>persistir o modelo treinado, o limiar de anomalia e as estatísticas de padronização.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32A2E"/>
                          </a:solidFill>
                          <a:latin typeface="Calibri"/>
                        </a:rPr>
                        <a:t>Parcial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425849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1">
                          <a:solidFill>
                            <a:srgbClr val="2E7D5B"/>
                          </a:solidFill>
                          <a:latin typeface="Calibri"/>
                        </a:rPr>
                        <a:t>RF-06</a:t>
                      </a:r>
                    </a:p>
                  </a:txBody>
                  <a:tcPr marL="82296" marR="64008" marT="27432" marB="27432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32A2E"/>
                          </a:solidFill>
                          <a:latin typeface="Calibri"/>
                        </a:rPr>
                        <a:t>derivar o limiar do percentil configurado sobre os escores de treino, registrando o valor aplicado.</a:t>
                      </a:r>
                    </a:p>
                  </a:txBody>
                  <a:tcPr marL="82296" marR="64008" marT="27432" marB="27432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32A2E"/>
                          </a:solidFill>
                          <a:latin typeface="Calibri"/>
                        </a:rPr>
                        <a:t>Atendido</a:t>
                      </a:r>
                    </a:p>
                  </a:txBody>
                  <a:tcPr marL="82296" marR="64008" marT="27432" marB="27432" anchor="ctr">
                    <a:solidFill>
                      <a:srgbClr val="EAF1F5"/>
                    </a:solidFill>
                  </a:tcPr>
                </a:tc>
              </a:tr>
              <a:tr h="425849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1">
                          <a:solidFill>
                            <a:srgbClr val="C8862A"/>
                          </a:solidFill>
                          <a:latin typeface="Calibri"/>
                        </a:rPr>
                        <a:t>RF-07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32A2E"/>
                          </a:solidFill>
                          <a:latin typeface="Calibri"/>
                        </a:rPr>
                        <a:t>calcular e registrar precisão, recall e F1 da versão avaliada, contra os rótulos de teste.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32A2E"/>
                          </a:solidFill>
                          <a:latin typeface="Calibri"/>
                        </a:rPr>
                        <a:t>Parcial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66928" y="5340096"/>
            <a:ext cx="11057839" cy="786384"/>
          </a:xfrm>
          <a:prstGeom prst="rect">
            <a:avLst/>
          </a:prstGeom>
          <a:solidFill>
            <a:srgbClr val="EAF1F5"/>
          </a:solidFill>
          <a:ln w="9525">
            <a:solidFill>
              <a:srgbClr val="DC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5340096"/>
            <a:ext cx="50292" cy="786384"/>
          </a:xfrm>
          <a:prstGeom prst="rect">
            <a:avLst/>
          </a:prstGeom>
          <a:solidFill>
            <a:srgbClr val="C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468112"/>
            <a:ext cx="1060063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200" b="1" i="0">
                <a:solidFill>
                  <a:srgbClr val="0F3A52"/>
                </a:solidFill>
                <a:latin typeface="Calibri"/>
              </a:rPr>
              <a:t>Onde o protótipo ainda não chega — e por quê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 i="0">
                <a:solidFill>
                  <a:srgbClr val="232A2E"/>
                </a:solidFill>
                <a:latin typeface="Calibri"/>
              </a:rPr>
              <a:t>RF-03 e RF-05/RF-07 parciais: o erro hoje é agregado por janela (falta a decomposição por métrica); a média e o desvio da padronização não são persistidos junto do modelo; e o percentual de janelas sinalizadas não vai para o results.json. São lacunas conhecidas, declaradas no documento de arquitetura.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C6C8F"/>
                </a:solidFill>
                <a:latin typeface="Calibri"/>
              </a:rPr>
              <a:t>REQUISITOS · QUALIDADE VERIFICÁVEL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3A52"/>
                </a:solidFill>
                <a:latin typeface="Calibri"/>
              </a:rPr>
              <a:t>Requisitos não funcionais e critérios de aceitação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97864"/>
            <a:ext cx="1051560" cy="41148"/>
          </a:xfrm>
          <a:prstGeom prst="rect">
            <a:avLst/>
          </a:prstGeom>
          <a:solidFill>
            <a:srgbClr val="C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780"/>
                </a:solidFill>
                <a:latin typeface="Calibri"/>
              </a:rPr>
              <a:t>Detector de Anomalias em Métricas de Servidores (SMD)  |  Grupo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2823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780"/>
                </a:solidFill>
                <a:latin typeface="Calibri"/>
              </a:rPr>
              <a:t>4/13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481328"/>
          <a:ext cx="11057837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9337"/>
                <a:gridCol w="3483219"/>
                <a:gridCol w="4146689"/>
                <a:gridCol w="2598592"/>
              </a:tblGrid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RNF</a:t>
                      </a:r>
                    </a:p>
                  </a:txBody>
                  <a:tcPr marL="82296" marR="64008" marT="27432" marB="27432" anchor="ctr">
                    <a:solidFill>
                      <a:srgbClr val="0F3A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Qualidade exigida</a:t>
                      </a:r>
                    </a:p>
                  </a:txBody>
                  <a:tcPr marL="82296" marR="64008" marT="27432" marB="27432" anchor="ctr">
                    <a:solidFill>
                      <a:srgbClr val="0F3A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Como verificamos</a:t>
                      </a:r>
                    </a:p>
                  </a:txBody>
                  <a:tcPr marL="82296" marR="64008" marT="27432" marB="27432" anchor="ctr">
                    <a:solidFill>
                      <a:srgbClr val="0F3A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Resultado medido</a:t>
                      </a:r>
                    </a:p>
                  </a:txBody>
                  <a:tcPr marL="82296" marR="64008" marT="27432" marB="27432" anchor="ctr">
                    <a:solidFill>
                      <a:srgbClr val="0F3A52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1">
                          <a:solidFill>
                            <a:srgbClr val="2E7D5B"/>
                          </a:solidFill>
                          <a:latin typeface="Calibri"/>
                        </a:rPr>
                        <a:t>RNF-01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232A2E"/>
                          </a:solidFill>
                          <a:latin typeface="Calibri"/>
                        </a:rPr>
                        <a:t>Baixa taxa de falso positivo, medida pela precisão, acima da taxa base do conjunto.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232A2E"/>
                          </a:solidFill>
                          <a:latin typeface="Calibri"/>
                        </a:rPr>
                        <a:t>Executar a avaliação no teste e comparar a precisão com a taxa base (9,46%).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232A2E"/>
                          </a:solidFill>
                          <a:latin typeface="Calibri"/>
                        </a:rPr>
                        <a:t>25,3%  &gt;  9,46%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1">
                          <a:solidFill>
                            <a:srgbClr val="A8442C"/>
                          </a:solidFill>
                          <a:latin typeface="Calibri"/>
                        </a:rPr>
                        <a:t>RNF-02</a:t>
                      </a:r>
                    </a:p>
                  </a:txBody>
                  <a:tcPr marL="82296" marR="64008" marT="27432" marB="27432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232A2E"/>
                          </a:solidFill>
                          <a:latin typeface="Calibri"/>
                        </a:rPr>
                        <a:t>Localizar as métricas responsáveis pela anomalia (erro por dimensão).</a:t>
                      </a:r>
                    </a:p>
                  </a:txBody>
                  <a:tcPr marL="82296" marR="64008" marT="27432" marB="27432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232A2E"/>
                          </a:solidFill>
                          <a:latin typeface="Calibri"/>
                        </a:rPr>
                        <a:t>Verificar se a saída traz o erro decomposto por métrica.</a:t>
                      </a:r>
                    </a:p>
                  </a:txBody>
                  <a:tcPr marL="82296" marR="64008" marT="27432" marB="27432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232A2E"/>
                          </a:solidFill>
                          <a:latin typeface="Calibri"/>
                        </a:rPr>
                        <a:t>Não atendido</a:t>
                      </a:r>
                    </a:p>
                  </a:txBody>
                  <a:tcPr marL="82296" marR="64008" marT="27432" marB="27432" anchor="ctr">
                    <a:solidFill>
                      <a:srgbClr val="EAF1F5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1">
                          <a:solidFill>
                            <a:srgbClr val="2E7D5B"/>
                          </a:solidFill>
                          <a:latin typeface="Calibri"/>
                        </a:rPr>
                        <a:t>RNF-03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232A2E"/>
                          </a:solidFill>
                          <a:latin typeface="Calibri"/>
                        </a:rPr>
                        <a:t>Custo de treino viável: concluir o treino sem GPU dedicada.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232A2E"/>
                          </a:solidFill>
                          <a:latin typeface="Calibri"/>
                        </a:rPr>
                        <a:t>Executar o pipeline em CPU e medir o tempo.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232A2E"/>
                          </a:solidFill>
                          <a:latin typeface="Calibri"/>
                        </a:rPr>
                        <a:t>165 s em CPU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1">
                          <a:solidFill>
                            <a:srgbClr val="C8862A"/>
                          </a:solidFill>
                          <a:latin typeface="Calibri"/>
                        </a:rPr>
                        <a:t>RNF-04</a:t>
                      </a:r>
                    </a:p>
                  </a:txBody>
                  <a:tcPr marL="82296" marR="64008" marT="27432" marB="27432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232A2E"/>
                          </a:solidFill>
                          <a:latin typeface="Calibri"/>
                        </a:rPr>
                        <a:t>Cobrir degradações que só aparecem na combinação das métricas (recall).</a:t>
                      </a:r>
                    </a:p>
                  </a:txBody>
                  <a:tcPr marL="82296" marR="64008" marT="27432" marB="27432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232A2E"/>
                          </a:solidFill>
                          <a:latin typeface="Calibri"/>
                        </a:rPr>
                        <a:t>Medir o recall no teste e comparar com um detector de limiar por métrica.</a:t>
                      </a:r>
                    </a:p>
                  </a:txBody>
                  <a:tcPr marL="82296" marR="64008" marT="27432" marB="27432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232A2E"/>
                          </a:solidFill>
                          <a:latin typeface="Calibri"/>
                        </a:rPr>
                        <a:t>recall 88,0%</a:t>
                      </a:r>
                    </a:p>
                  </a:txBody>
                  <a:tcPr marL="82296" marR="64008" marT="27432" marB="27432" anchor="ctr">
                    <a:solidFill>
                      <a:srgbClr val="EAF1F5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4169664"/>
            <a:ext cx="11057839" cy="1042415"/>
          </a:xfrm>
          <a:prstGeom prst="rect">
            <a:avLst/>
          </a:prstGeom>
          <a:solidFill>
            <a:srgbClr val="0F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4315968"/>
            <a:ext cx="1050919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8862A"/>
                </a:solidFill>
                <a:latin typeface="Calibri"/>
              </a:rPr>
              <a:t>CRITÉRIO DE ACEITAÇÃO DO CONJUNTO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4590288"/>
            <a:ext cx="1050919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“Este conjunto de requisitos será bem-sucedido se o detector sinalizar ao menos 85% dos eventos anômalos conhecidos do SMD (recall), mantendo precisão superior à taxa base de anomalias do conjunto avaliado (9,46% na machine-1-1), verificado a cada nova versão do modelo.”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376672"/>
            <a:ext cx="11057839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5376672"/>
            <a:ext cx="50292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513832"/>
            <a:ext cx="10509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7D5B"/>
                </a:solidFill>
                <a:latin typeface="Calibri"/>
              </a:rPr>
              <a:t>ATENDIDO na execução de referência:  recall 88,0% ≥ 85%   ·   precisão 25,3% &gt; 9,46%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C6C8F"/>
                </a:solidFill>
                <a:latin typeface="Calibri"/>
              </a:rPr>
              <a:t>ARQUITETURA · VISÃO DE COMPONENTES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3A52"/>
                </a:solidFill>
                <a:latin typeface="Calibri"/>
              </a:rPr>
              <a:t>Arquitetura do sistema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97864"/>
            <a:ext cx="1051560" cy="41148"/>
          </a:xfrm>
          <a:prstGeom prst="rect">
            <a:avLst/>
          </a:prstGeom>
          <a:solidFill>
            <a:srgbClr val="C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780"/>
                </a:solidFill>
                <a:latin typeface="Calibri"/>
              </a:rPr>
              <a:t>Detector de Anomalias em Métricas de Servidores (SMD)  |  Grupo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2823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780"/>
                </a:solidFill>
                <a:latin typeface="Calibri"/>
              </a:rPr>
              <a:t>5/13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17904"/>
            <a:ext cx="11057839" cy="603504"/>
          </a:xfrm>
          <a:prstGeom prst="rect">
            <a:avLst/>
          </a:prstGeom>
          <a:solidFill>
            <a:srgbClr val="0F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700784"/>
            <a:ext cx="10509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main.py   —   orquestrador: é o único que conhece a ordem das etapas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542032"/>
            <a:ext cx="1389888" cy="1572768"/>
          </a:xfrm>
          <a:prstGeom prst="rect">
            <a:avLst/>
          </a:prstGeom>
          <a:solidFill>
            <a:srgbClr val="EAF1F5"/>
          </a:solidFill>
          <a:ln w="9525">
            <a:solidFill>
              <a:srgbClr val="DC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542032"/>
            <a:ext cx="50292" cy="1572768"/>
          </a:xfrm>
          <a:prstGeom prst="rect">
            <a:avLst/>
          </a:prstGeom>
          <a:solidFill>
            <a:srgbClr val="0F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706624"/>
            <a:ext cx="11521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3A52"/>
                </a:solidFill>
                <a:latin typeface="Calibri"/>
              </a:rPr>
              <a:t>SMD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017520"/>
            <a:ext cx="115214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6B7780"/>
                </a:solidFill>
                <a:latin typeface="Calibri"/>
              </a:rPr>
              <a:t>train · test
test_label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694176"/>
            <a:ext cx="115214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C8862A"/>
                </a:solidFill>
                <a:latin typeface="Calibri"/>
              </a:rPr>
              <a:t>arquivos .txt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007108" y="3259836"/>
            <a:ext cx="123444" cy="137160"/>
          </a:xfrm>
          <a:prstGeom prst="rightArrow">
            <a:avLst/>
          </a:prstGeom>
          <a:solidFill>
            <a:srgbClr val="C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80844" y="2542032"/>
            <a:ext cx="1389888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80844" y="2542032"/>
            <a:ext cx="50292" cy="1572768"/>
          </a:xfrm>
          <a:prstGeom prst="rect">
            <a:avLst/>
          </a:prstGeom>
          <a:solidFill>
            <a:srgbClr val="0F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27148" y="2706624"/>
            <a:ext cx="11521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3A52"/>
                </a:solidFill>
                <a:latin typeface="Calibri"/>
              </a:rPr>
              <a:t>data/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7148" y="3017520"/>
            <a:ext cx="115214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6B7780"/>
                </a:solidFill>
                <a:latin typeface="Calibri"/>
              </a:rPr>
              <a:t>loader.py
carregar e limpar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7148" y="3694176"/>
            <a:ext cx="115214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C8862A"/>
                </a:solidFill>
                <a:latin typeface="Calibri"/>
              </a:rPr>
              <a:t>→ DataFrame (N, 38)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621024" y="3259836"/>
            <a:ext cx="123444" cy="137160"/>
          </a:xfrm>
          <a:prstGeom prst="rightArrow">
            <a:avLst/>
          </a:prstGeom>
          <a:solidFill>
            <a:srgbClr val="C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94760" y="2542032"/>
            <a:ext cx="1389888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94760" y="2542032"/>
            <a:ext cx="50292" cy="1572768"/>
          </a:xfrm>
          <a:prstGeom prst="rect">
            <a:avLst/>
          </a:prstGeom>
          <a:solidFill>
            <a:srgbClr val="0F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41064" y="2706624"/>
            <a:ext cx="11521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3A52"/>
                </a:solidFill>
                <a:latin typeface="Calibri"/>
              </a:rPr>
              <a:t>preprocessing/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41064" y="3017520"/>
            <a:ext cx="115214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6B7780"/>
                </a:solidFill>
                <a:latin typeface="Calibri"/>
              </a:rPr>
              <a:t>transform.py
z-score e split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41064" y="3694176"/>
            <a:ext cx="115214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C8862A"/>
                </a:solidFill>
                <a:latin typeface="Calibri"/>
              </a:rPr>
              <a:t>→ ndarray padronizado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234940" y="3259836"/>
            <a:ext cx="123444" cy="137160"/>
          </a:xfrm>
          <a:prstGeom prst="rightArrow">
            <a:avLst/>
          </a:prstGeom>
          <a:solidFill>
            <a:srgbClr val="C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08676" y="2542032"/>
            <a:ext cx="1389888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08676" y="2542032"/>
            <a:ext cx="50292" cy="1572768"/>
          </a:xfrm>
          <a:prstGeom prst="rect">
            <a:avLst/>
          </a:prstGeom>
          <a:solidFill>
            <a:srgbClr val="0F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54980" y="2706624"/>
            <a:ext cx="11521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3A52"/>
                </a:solidFill>
                <a:latin typeface="Calibri"/>
              </a:rPr>
              <a:t>training/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54980" y="3017520"/>
            <a:ext cx="115214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6B7780"/>
                </a:solidFill>
                <a:latin typeface="Calibri"/>
              </a:rPr>
              <a:t>train.py
DataLoader e laço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54980" y="3694176"/>
            <a:ext cx="115214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C8862A"/>
                </a:solidFill>
                <a:latin typeface="Calibri"/>
              </a:rPr>
              <a:t>→ tensores (b, 50, 38)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6848856" y="3259836"/>
            <a:ext cx="123444" cy="137160"/>
          </a:xfrm>
          <a:prstGeom prst="rightArrow">
            <a:avLst/>
          </a:prstGeom>
          <a:solidFill>
            <a:srgbClr val="C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022592" y="2542032"/>
            <a:ext cx="1389888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022592" y="2542032"/>
            <a:ext cx="50292" cy="1572768"/>
          </a:xfrm>
          <a:prstGeom prst="rect">
            <a:avLst/>
          </a:prstGeom>
          <a:solidFill>
            <a:srgbClr val="0F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68896" y="2706624"/>
            <a:ext cx="11521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3A52"/>
                </a:solidFill>
                <a:latin typeface="Calibri"/>
              </a:rPr>
              <a:t>models/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68896" y="3017520"/>
            <a:ext cx="115214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6B7780"/>
                </a:solidFill>
                <a:latin typeface="Calibri"/>
              </a:rPr>
              <a:t>model.py
Autoencoder e erro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68896" y="3694176"/>
            <a:ext cx="115214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C8862A"/>
                </a:solidFill>
                <a:latin typeface="Calibri"/>
              </a:rPr>
              <a:t>→ erro por janela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8462772" y="3259836"/>
            <a:ext cx="123444" cy="137160"/>
          </a:xfrm>
          <a:prstGeom prst="rightArrow">
            <a:avLst/>
          </a:prstGeom>
          <a:solidFill>
            <a:srgbClr val="C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636508" y="2542032"/>
            <a:ext cx="1389888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636508" y="2542032"/>
            <a:ext cx="50292" cy="1572768"/>
          </a:xfrm>
          <a:prstGeom prst="rect">
            <a:avLst/>
          </a:prstGeom>
          <a:solidFill>
            <a:srgbClr val="0F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82812" y="2706624"/>
            <a:ext cx="11521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3A52"/>
                </a:solidFill>
                <a:latin typeface="Calibri"/>
              </a:rPr>
              <a:t>evaluation/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82812" y="3017520"/>
            <a:ext cx="115214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6B7780"/>
                </a:solidFill>
                <a:latin typeface="Calibri"/>
              </a:rPr>
              <a:t>metrics.py
limiar e métricas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82812" y="3694176"/>
            <a:ext cx="115214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C8862A"/>
                </a:solidFill>
                <a:latin typeface="Calibri"/>
              </a:rPr>
              <a:t>→ precisão, recall, F1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10076688" y="3259836"/>
            <a:ext cx="123444" cy="137160"/>
          </a:xfrm>
          <a:prstGeom prst="rightArrow">
            <a:avLst/>
          </a:prstGeom>
          <a:solidFill>
            <a:srgbClr val="C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250424" y="2542032"/>
            <a:ext cx="1389888" cy="1572768"/>
          </a:xfrm>
          <a:prstGeom prst="rect">
            <a:avLst/>
          </a:prstGeom>
          <a:solidFill>
            <a:srgbClr val="EAF1F5"/>
          </a:solidFill>
          <a:ln w="9525">
            <a:solidFill>
              <a:srgbClr val="DC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250424" y="2542032"/>
            <a:ext cx="50292" cy="1572768"/>
          </a:xfrm>
          <a:prstGeom prst="rect">
            <a:avLst/>
          </a:prstGeom>
          <a:solidFill>
            <a:srgbClr val="C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396728" y="2706624"/>
            <a:ext cx="11521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3A52"/>
                </a:solidFill>
                <a:latin typeface="Calibri"/>
              </a:rPr>
              <a:t>artifacts/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96728" y="3017520"/>
            <a:ext cx="115214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6B7780"/>
                </a:solidFill>
                <a:latin typeface="Calibri"/>
              </a:rPr>
              <a:t>autoencoder.pt
results.json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96728" y="3694176"/>
            <a:ext cx="115214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C8862A"/>
                </a:solidFill>
                <a:latin typeface="Calibri"/>
              </a:rPr>
              <a:t>saída persistida</a:t>
            </a:r>
          </a:p>
        </p:txBody>
      </p:sp>
      <p:sp>
        <p:nvSpPr>
          <p:cNvPr id="51" name="Down Arrow 50"/>
          <p:cNvSpPr/>
          <p:nvPr/>
        </p:nvSpPr>
        <p:spPr>
          <a:xfrm>
            <a:off x="2784348" y="2212848"/>
            <a:ext cx="182880" cy="237744"/>
          </a:xfrm>
          <a:prstGeom prst="downArrow">
            <a:avLst/>
          </a:prstGeom>
          <a:solidFill>
            <a:srgbClr val="DC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Down Arrow 51"/>
          <p:cNvSpPr/>
          <p:nvPr/>
        </p:nvSpPr>
        <p:spPr>
          <a:xfrm>
            <a:off x="4398264" y="2212848"/>
            <a:ext cx="182880" cy="237744"/>
          </a:xfrm>
          <a:prstGeom prst="downArrow">
            <a:avLst/>
          </a:prstGeom>
          <a:solidFill>
            <a:srgbClr val="DC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Down Arrow 52"/>
          <p:cNvSpPr/>
          <p:nvPr/>
        </p:nvSpPr>
        <p:spPr>
          <a:xfrm>
            <a:off x="6012180" y="2212848"/>
            <a:ext cx="182880" cy="237744"/>
          </a:xfrm>
          <a:prstGeom prst="downArrow">
            <a:avLst/>
          </a:prstGeom>
          <a:solidFill>
            <a:srgbClr val="DC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Down Arrow 53"/>
          <p:cNvSpPr/>
          <p:nvPr/>
        </p:nvSpPr>
        <p:spPr>
          <a:xfrm>
            <a:off x="7626096" y="2212848"/>
            <a:ext cx="182880" cy="237744"/>
          </a:xfrm>
          <a:prstGeom prst="downArrow">
            <a:avLst/>
          </a:prstGeom>
          <a:solidFill>
            <a:srgbClr val="DC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Down Arrow 54"/>
          <p:cNvSpPr/>
          <p:nvPr/>
        </p:nvSpPr>
        <p:spPr>
          <a:xfrm>
            <a:off x="9240012" y="2212848"/>
            <a:ext cx="182880" cy="237744"/>
          </a:xfrm>
          <a:prstGeom prst="downArrow">
            <a:avLst/>
          </a:prstGeom>
          <a:solidFill>
            <a:srgbClr val="DC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66928" y="4498848"/>
            <a:ext cx="46634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6928" y="4498848"/>
            <a:ext cx="50292" cy="1828800"/>
          </a:xfrm>
          <a:prstGeom prst="rect">
            <a:avLst/>
          </a:prstGeom>
          <a:solidFill>
            <a:srgbClr val="6B7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4672" y="4681728"/>
            <a:ext cx="4251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3A52"/>
                </a:solidFill>
                <a:latin typeface="Calibri"/>
              </a:rPr>
              <a:t>src/utils/   —   apoio transversal (não carrega dados do pipeline)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672" y="4992624"/>
            <a:ext cx="4251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780"/>
                </a:solidFill>
                <a:latin typeface="Calibri"/>
              </a:rPr>
              <a:t>config.py — caminhos e hiperparâmetros
torch_utils.py — device e sementes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50408" y="4498848"/>
            <a:ext cx="6074359" cy="1828800"/>
          </a:xfrm>
          <a:prstGeom prst="rect">
            <a:avLst/>
          </a:prstGeom>
          <a:solidFill>
            <a:srgbClr val="EAF1F5"/>
          </a:solidFill>
          <a:ln w="9525">
            <a:solidFill>
              <a:srgbClr val="DC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550408" y="4498848"/>
            <a:ext cx="50292" cy="1828800"/>
          </a:xfrm>
          <a:prstGeom prst="rect">
            <a:avLst/>
          </a:prstGeom>
          <a:solidFill>
            <a:srgbClr val="C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788152" y="4681728"/>
            <a:ext cx="56628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3A52"/>
                </a:solidFill>
                <a:latin typeface="Calibri"/>
              </a:rPr>
              <a:t>REGRA DE DEPENDÊNCIA:  as setas nunca voltam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788152" y="4992624"/>
            <a:ext cx="56628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B7780"/>
                </a:solidFill>
                <a:latin typeface="Calibri"/>
              </a:rPr>
              <a:t>Nenhum pacote de src/ importa o main.py, e utils/ não importa ninguém do pipeline. É o que permite usar o pré-processamento ou as métricas fora do pipeline — nos testes, por exemplo — sem arrastar o resto junto.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C6C8F"/>
                </a:solidFill>
                <a:latin typeface="Calibri"/>
              </a:rPr>
              <a:t>ARQUITETURA · O PORQUÊ DE CADA ESCOLHA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3A52"/>
                </a:solidFill>
                <a:latin typeface="Calibri"/>
              </a:rPr>
              <a:t>Decisões arquiteturais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97864"/>
            <a:ext cx="1051560" cy="41148"/>
          </a:xfrm>
          <a:prstGeom prst="rect">
            <a:avLst/>
          </a:prstGeom>
          <a:solidFill>
            <a:srgbClr val="C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780"/>
                </a:solidFill>
                <a:latin typeface="Calibri"/>
              </a:rPr>
              <a:t>Detector de Anomalias em Métricas de Servidores (SMD)  |  Grupo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2823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780"/>
                </a:solidFill>
                <a:latin typeface="Calibri"/>
              </a:rPr>
              <a:t>6/13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81328"/>
            <a:ext cx="5440680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481328"/>
            <a:ext cx="50292" cy="1124712"/>
          </a:xfrm>
          <a:prstGeom prst="rect">
            <a:avLst/>
          </a:prstGeom>
          <a:solidFill>
            <a:srgbClr val="0F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609344"/>
            <a:ext cx="5029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3A52"/>
                </a:solidFill>
                <a:latin typeface="Calibri"/>
              </a:rPr>
              <a:t>D1  ·  Um pacote por etapa do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1883664"/>
            <a:ext cx="50292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0" i="0">
                <a:solidFill>
                  <a:srgbClr val="232A2E"/>
                </a:solidFill>
                <a:latin typeface="Calibri"/>
              </a:rPr>
              <a:t>Cada etapa tem um dono e um arquivo de teste próprio. Foi o que permitiu várias pessoas trabalharem em paralelo sem conflito de merge.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386584"/>
            <a:ext cx="5029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C8862A"/>
                </a:solidFill>
                <a:latin typeface="Calibri"/>
              </a:rPr>
              <a:t>SEPARAÇÃO DE RESPONSABILIDADES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688336"/>
            <a:ext cx="5440680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2688336"/>
            <a:ext cx="50292" cy="1124712"/>
          </a:xfrm>
          <a:prstGeom prst="rect">
            <a:avLst/>
          </a:prstGeom>
          <a:solidFill>
            <a:srgbClr val="0F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2816352"/>
            <a:ext cx="5029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3A52"/>
                </a:solidFill>
                <a:latin typeface="Calibri"/>
              </a:rPr>
              <a:t>D2  ·  Pré-processamento em NumPy, antes de qualquer tensor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3090672"/>
            <a:ext cx="50292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0" i="0">
                <a:solidFill>
                  <a:srgbClr val="232A2E"/>
                </a:solidFill>
                <a:latin typeface="Calibri"/>
              </a:rPr>
              <a:t>Mantém data/ e preprocessing/ executáveis sem PyTorch instalado — destravou colegas cujo ambiente não tinha a biblioteca.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3593592"/>
            <a:ext cx="5029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C8862A"/>
                </a:solidFill>
                <a:latin typeface="Calibri"/>
              </a:rPr>
              <a:t>BAIXO ACOPLAMENTO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895344"/>
            <a:ext cx="5440680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3895344"/>
            <a:ext cx="50292" cy="1124712"/>
          </a:xfrm>
          <a:prstGeom prst="rect">
            <a:avLst/>
          </a:prstGeom>
          <a:solidFill>
            <a:srgbClr val="0F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4023360"/>
            <a:ext cx="5029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3A52"/>
                </a:solidFill>
                <a:latin typeface="Calibri"/>
              </a:rPr>
              <a:t>D3  ·  Configuração centralizada em utils/config.py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4297680"/>
            <a:ext cx="50292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0" i="0">
                <a:solidFill>
                  <a:srgbClr val="232A2E"/>
                </a:solidFill>
                <a:latin typeface="Calibri"/>
              </a:rPr>
              <a:t>Trocar janela, épocas ou percentil é editar uma linha, não caçar constante espalhada. É o que tornou viável comparar configurações.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4800600"/>
            <a:ext cx="5029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C8862A"/>
                </a:solidFill>
                <a:latin typeface="Calibri"/>
              </a:rPr>
              <a:t>MANUTENIBILIDADE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5102352"/>
            <a:ext cx="5440680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5102352"/>
            <a:ext cx="50292" cy="1124712"/>
          </a:xfrm>
          <a:prstGeom prst="rect">
            <a:avLst/>
          </a:prstGeom>
          <a:solidFill>
            <a:srgbClr val="0F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5230368"/>
            <a:ext cx="5029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3A52"/>
                </a:solidFill>
                <a:latin typeface="Calibri"/>
              </a:rPr>
              <a:t>D4  ·  Padronização com estatísticas só do treino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5504688"/>
            <a:ext cx="50292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0" i="0">
                <a:solidFill>
                  <a:srgbClr val="232A2E"/>
                </a:solidFill>
                <a:latin typeface="Calibri"/>
              </a:rPr>
              <a:t>Validação e teste usam a média e o desvio do treino. O contrário vazaria informação do teste para o pré-processamento.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" y="6007608"/>
            <a:ext cx="5029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C8862A"/>
                </a:solidFill>
                <a:latin typeface="Calibri"/>
              </a:rPr>
              <a:t>VALIDADE DO EXPERIMENTO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81344" y="1481328"/>
            <a:ext cx="5440680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81344" y="1481328"/>
            <a:ext cx="50292" cy="1124712"/>
          </a:xfrm>
          <a:prstGeom prst="rect">
            <a:avLst/>
          </a:prstGeom>
          <a:solidFill>
            <a:srgbClr val="0F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1609344"/>
            <a:ext cx="5029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3A52"/>
                </a:solidFill>
                <a:latin typeface="Calibri"/>
              </a:rPr>
              <a:t>D5  ·  Split temporal, nunca aleatório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1883664"/>
            <a:ext cx="50292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0" i="0">
                <a:solidFill>
                  <a:srgbClr val="232A2E"/>
                </a:solidFill>
                <a:latin typeface="Calibri"/>
              </a:rPr>
              <a:t>A série é temporal: embaralhar antes de dividir treinaria o modelo com o futuro e inflaria o resultado artificialmente.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5029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C8862A"/>
                </a:solidFill>
                <a:latin typeface="Calibri"/>
              </a:rPr>
              <a:t>VALIDADE DO EXPERIMENTO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1344" y="2688336"/>
            <a:ext cx="5440680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81344" y="2688336"/>
            <a:ext cx="50292" cy="1124712"/>
          </a:xfrm>
          <a:prstGeom prst="rect">
            <a:avLst/>
          </a:prstGeom>
          <a:solidFill>
            <a:srgbClr val="0F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2816352"/>
            <a:ext cx="5029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3A52"/>
                </a:solidFill>
                <a:latin typeface="Calibri"/>
              </a:rPr>
              <a:t>D6  ·  Persistência separada da definição do modelo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090672"/>
            <a:ext cx="50292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0" i="0">
                <a:solidFill>
                  <a:srgbClr val="232A2E"/>
                </a:solidFill>
                <a:latin typeface="Calibri"/>
              </a:rPr>
              <a:t>persistence.py grava só os pesos; a arquitetura fica em model.py. Carregar exige recriar a estrutura — não dependemos de serializar a classe.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593592"/>
            <a:ext cx="5029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C8862A"/>
                </a:solidFill>
                <a:latin typeface="Calibri"/>
              </a:rPr>
              <a:t>ALTA COESÃO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81344" y="3895344"/>
            <a:ext cx="5440680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81344" y="3895344"/>
            <a:ext cx="50292" cy="1124712"/>
          </a:xfrm>
          <a:prstGeom prst="rect">
            <a:avLst/>
          </a:prstGeom>
          <a:solidFill>
            <a:srgbClr val="0F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4023360"/>
            <a:ext cx="5029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3A52"/>
                </a:solidFill>
                <a:latin typeface="Calibri"/>
              </a:rPr>
              <a:t>D7  ·  Orquestração exclusivamente no main.py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297680"/>
            <a:ext cx="50292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0" i="0">
                <a:solidFill>
                  <a:srgbClr val="232A2E"/>
                </a:solidFill>
                <a:latin typeface="Calibri"/>
              </a:rPr>
              <a:t>Os módulos não sabem em que ordem são chamados. Cada função pode ser exercitada isolada num teste.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4800600"/>
            <a:ext cx="5029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C8862A"/>
                </a:solidFill>
                <a:latin typeface="Calibri"/>
              </a:rPr>
              <a:t>TESTABILIDADE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81344" y="5102352"/>
            <a:ext cx="5440680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81344" y="5102352"/>
            <a:ext cx="50292" cy="1124712"/>
          </a:xfrm>
          <a:prstGeom prst="rect">
            <a:avLst/>
          </a:prstGeom>
          <a:solidFill>
            <a:srgbClr val="0F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5230368"/>
            <a:ext cx="5029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3A52"/>
                </a:solidFill>
                <a:latin typeface="Calibri"/>
              </a:rPr>
              <a:t>D8  ·  Métricas em NumPy puro, sem scikit-learn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5504688"/>
            <a:ext cx="50292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0" i="0">
                <a:solidFill>
                  <a:srgbClr val="232A2E"/>
                </a:solidFill>
                <a:latin typeface="Calibri"/>
              </a:rPr>
              <a:t>Uma dependência a menos e o cálculo de precisão e recall fica auditável linha a linha — e testável.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6007608"/>
            <a:ext cx="5029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C8862A"/>
                </a:solidFill>
                <a:latin typeface="Calibri"/>
              </a:rPr>
              <a:t>TESTABILIDADE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C6C8F"/>
                </a:solidFill>
                <a:latin typeface="Calibri"/>
              </a:rPr>
              <a:t>MODULARIZAÇÃO · ORGANIZAÇÃO DAS PASTAS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3A52"/>
                </a:solidFill>
                <a:latin typeface="Calibri"/>
              </a:rPr>
              <a:t>Estrutura do projeto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97864"/>
            <a:ext cx="1051560" cy="41148"/>
          </a:xfrm>
          <a:prstGeom prst="rect">
            <a:avLst/>
          </a:prstGeom>
          <a:solidFill>
            <a:srgbClr val="C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780"/>
                </a:solidFill>
                <a:latin typeface="Calibri"/>
              </a:rPr>
              <a:t>Detector de Anomalias em Métricas de Servidores (SMD)  |  Grupo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2823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780"/>
                </a:solidFill>
                <a:latin typeface="Calibri"/>
              </a:rPr>
              <a:t>7/13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81328"/>
            <a:ext cx="6720840" cy="3630168"/>
          </a:xfrm>
          <a:prstGeom prst="rect">
            <a:avLst/>
          </a:prstGeom>
          <a:solidFill>
            <a:srgbClr val="142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591056"/>
            <a:ext cx="6428232" cy="34472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4EBEF"/>
                </a:solidFill>
                <a:latin typeface="Consolas"/>
              </a:rPr>
              <a:t>detector-anomalias-smd/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4EBEF"/>
                </a:solidFill>
                <a:latin typeface="Consolas"/>
              </a:rPr>
              <a:t>├── main.py                          # ponto único de execução do pipeline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4EBEF"/>
                </a:solidFill>
                <a:latin typeface="Consolas"/>
              </a:rPr>
              <a:t>├── requirements.txt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4EBEF"/>
                </a:solidFill>
                <a:latin typeface="Consolas"/>
              </a:rPr>
              <a:t>├── README.md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0B860"/>
                </a:solidFill>
                <a:latin typeface="Consolas"/>
              </a:rPr>
              <a:t>├── src/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4EBEF"/>
                </a:solidFill>
                <a:latin typeface="Consolas"/>
              </a:rPr>
              <a:t>│   ├── data/loader.py               # carregamento e limpeza (pandas)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4EBEF"/>
                </a:solidFill>
                <a:latin typeface="Consolas"/>
              </a:rPr>
              <a:t>│   ├── preprocessing/transform.py   # padronização e split (NumPy)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4EBEF"/>
                </a:solidFill>
                <a:latin typeface="Consolas"/>
              </a:rPr>
              <a:t>│   ├── models/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4EBEF"/>
                </a:solidFill>
                <a:latin typeface="Consolas"/>
              </a:rPr>
              <a:t>│   │   ├── model.py                 # Autoencoder (nn.Module) e erro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4EBEF"/>
                </a:solidFill>
                <a:latin typeface="Consolas"/>
              </a:rPr>
              <a:t>│   │   └── persistence.py           # salvar / carregar state_dict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4EBEF"/>
                </a:solidFill>
                <a:latin typeface="Consolas"/>
              </a:rPr>
              <a:t>│   ├── training/train.py            # DataLoader, laço de treino e validação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4EBEF"/>
                </a:solidFill>
                <a:latin typeface="Consolas"/>
              </a:rPr>
              <a:t>│   ├── evaluation/metrics.py        # limiar, predição e métricas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4EBEF"/>
                </a:solidFill>
                <a:latin typeface="Consolas"/>
              </a:rPr>
              <a:t>│   └── utils/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4EBEF"/>
                </a:solidFill>
                <a:latin typeface="Consolas"/>
              </a:rPr>
              <a:t>│       ├── config.py                # caminhos e hiperparâmetros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4EBEF"/>
                </a:solidFill>
                <a:latin typeface="Consolas"/>
              </a:rPr>
              <a:t>│       └── torch_utils.py           # device e sementes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0B860"/>
                </a:solidFill>
                <a:latin typeface="Consolas"/>
              </a:rPr>
              <a:t>├── tests/                           # 4 arquivos, um por pacote de src/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4EBEF"/>
                </a:solidFill>
                <a:latin typeface="Consolas"/>
              </a:rPr>
              <a:t>├── docs/                            # requisitos (GR4ML) e arquitetura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4EBEF"/>
                </a:solidFill>
                <a:latin typeface="Consolas"/>
              </a:rPr>
              <a:t>├── apresentacao/                    # slides, gerados a partir dos resultados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4EBEF"/>
                </a:solidFill>
                <a:latin typeface="Consolas"/>
              </a:rPr>
              <a:t>├── data/                            # SMD (não versionado)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4EBEF"/>
                </a:solidFill>
                <a:latin typeface="Consolas"/>
              </a:rPr>
              <a:t>└── artifacts/                       # modelo e resultados gerados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25512" y="1481328"/>
            <a:ext cx="4099255" cy="996696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25512" y="1481328"/>
            <a:ext cx="50292" cy="996696"/>
          </a:xfrm>
          <a:prstGeom prst="rect">
            <a:avLst/>
          </a:prstGeom>
          <a:solidFill>
            <a:srgbClr val="C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80" y="1609344"/>
            <a:ext cx="37152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3A52"/>
                </a:solidFill>
                <a:latin typeface="Calibri"/>
              </a:rPr>
              <a:t>Um diretório por responsabilidade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80" y="1938528"/>
            <a:ext cx="3715207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050" b="0" i="0">
                <a:solidFill>
                  <a:srgbClr val="232A2E"/>
                </a:solidFill>
                <a:latin typeface="Calibri"/>
              </a:rPr>
              <a:t>O nome da pasta diz a etapa do pipeline. Quem chega no repositório sabe onde procurar sem abrir arquivo.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25512" y="2560320"/>
            <a:ext cx="4099255" cy="996696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25512" y="2560320"/>
            <a:ext cx="50292" cy="996696"/>
          </a:xfrm>
          <a:prstGeom prst="rect">
            <a:avLst/>
          </a:prstGeom>
          <a:solidFill>
            <a:srgbClr val="C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80" y="2688336"/>
            <a:ext cx="37152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3A52"/>
                </a:solidFill>
                <a:latin typeface="Calibri"/>
              </a:rPr>
              <a:t>tests/ espelha src/ na mesma granularidade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80" y="3017520"/>
            <a:ext cx="3715207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050" b="0" i="0">
                <a:solidFill>
                  <a:srgbClr val="232A2E"/>
                </a:solidFill>
                <a:latin typeface="Calibri"/>
              </a:rPr>
              <a:t>Um arquivo de teste por pacote: test_data, test_preprocessing, test_model, test_training. É imediato saber onde um comportamento é verificado.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25512" y="3639312"/>
            <a:ext cx="4099255" cy="996696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25512" y="3639312"/>
            <a:ext cx="50292" cy="996696"/>
          </a:xfrm>
          <a:prstGeom prst="rect">
            <a:avLst/>
          </a:prstGeom>
          <a:solidFill>
            <a:srgbClr val="C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80" y="3767328"/>
            <a:ext cx="37152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3A52"/>
                </a:solidFill>
                <a:latin typeface="Calibri"/>
              </a:rPr>
              <a:t>O que é gerado fica fora do versionamento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80" y="4096512"/>
            <a:ext cx="3715207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050" b="0" i="0">
                <a:solidFill>
                  <a:srgbClr val="232A2E"/>
                </a:solidFill>
                <a:latin typeface="Calibri"/>
              </a:rPr>
              <a:t>data/ e artifacts/ não vão para o Git: dados brutos e modelos treinados são reproduzíveis, não código-fonte.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25512" y="4718304"/>
            <a:ext cx="4099255" cy="996696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25512" y="4718304"/>
            <a:ext cx="50292" cy="996696"/>
          </a:xfrm>
          <a:prstGeom prst="rect">
            <a:avLst/>
          </a:prstGeom>
          <a:solidFill>
            <a:srgbClr val="C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80" y="4846320"/>
            <a:ext cx="37152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3A52"/>
                </a:solidFill>
                <a:latin typeface="Calibri"/>
              </a:rPr>
              <a:t>main.py na raiz, sozinho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80" y="5175504"/>
            <a:ext cx="3715207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050" b="0" i="0">
                <a:solidFill>
                  <a:srgbClr val="232A2E"/>
                </a:solidFill>
                <a:latin typeface="Calibri"/>
              </a:rPr>
              <a:t>Um único ponto de entrada: python main.py roda tudo, do arquivo bruto ao results.json.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C6C8F"/>
                </a:solidFill>
                <a:latin typeface="Calibri"/>
              </a:rPr>
              <a:t>MODULARIZAÇÃO · CONTRATO DE CADA PEÇA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3A52"/>
                </a:solidFill>
                <a:latin typeface="Calibri"/>
              </a:rPr>
              <a:t>Responsabilidades dos módulos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97864"/>
            <a:ext cx="1051560" cy="41148"/>
          </a:xfrm>
          <a:prstGeom prst="rect">
            <a:avLst/>
          </a:prstGeom>
          <a:solidFill>
            <a:srgbClr val="C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780"/>
                </a:solidFill>
                <a:latin typeface="Calibri"/>
              </a:rPr>
              <a:t>Detector de Anomalias em Métricas de Servidores (SMD)  |  Grupo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2823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780"/>
                </a:solidFill>
                <a:latin typeface="Calibri"/>
              </a:rPr>
              <a:t>8/13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481328"/>
          <a:ext cx="11057837" cy="288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8592"/>
                <a:gridCol w="5915943"/>
                <a:gridCol w="2543302"/>
              </a:tblGrid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Módulo</a:t>
                      </a:r>
                    </a:p>
                  </a:txBody>
                  <a:tcPr marL="82296" marR="64008" marT="27432" marB="27432" anchor="ctr">
                    <a:solidFill>
                      <a:srgbClr val="0F3A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Responsabilidade</a:t>
                      </a:r>
                    </a:p>
                  </a:txBody>
                  <a:tcPr marL="82296" marR="64008" marT="27432" marB="27432" anchor="ctr">
                    <a:solidFill>
                      <a:srgbClr val="0F3A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Entrada → saída</a:t>
                      </a:r>
                    </a:p>
                  </a:txBody>
                  <a:tcPr marL="82296" marR="64008" marT="27432" marB="27432" anchor="ctr">
                    <a:solidFill>
                      <a:srgbClr val="0F3A5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1">
                          <a:solidFill>
                            <a:srgbClr val="232A2E"/>
                          </a:solidFill>
                          <a:latin typeface="Calibri"/>
                        </a:rPr>
                        <a:t>data/loader.py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232A2E"/>
                          </a:solidFill>
                          <a:latin typeface="Calibri"/>
                        </a:rPr>
                        <a:t>Ler os arquivos do SMD e remover linhas inválidas preservando o alinhamento entre métricas e rótulos.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232A2E"/>
                          </a:solidFill>
                          <a:latin typeface="Calibri"/>
                        </a:rPr>
                        <a:t>caminho → DataFrame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1">
                          <a:solidFill>
                            <a:srgbClr val="232A2E"/>
                          </a:solidFill>
                          <a:latin typeface="Calibri"/>
                        </a:rPr>
                        <a:t>preprocessing/transform.py</a:t>
                      </a:r>
                    </a:p>
                  </a:txBody>
                  <a:tcPr marL="82296" marR="64008" marT="27432" marB="27432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232A2E"/>
                          </a:solidFill>
                          <a:latin typeface="Calibri"/>
                        </a:rPr>
                        <a:t>Padronizar por z-score e dividir a série preservando a ordem temporal.</a:t>
                      </a:r>
                    </a:p>
                  </a:txBody>
                  <a:tcPr marL="82296" marR="64008" marT="27432" marB="27432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232A2E"/>
                          </a:solidFill>
                          <a:latin typeface="Calibri"/>
                        </a:rPr>
                        <a:t>ndarray → ndarray</a:t>
                      </a:r>
                    </a:p>
                  </a:txBody>
                  <a:tcPr marL="82296" marR="64008" marT="27432" marB="27432" anchor="ctr">
                    <a:solidFill>
                      <a:srgbClr val="EA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1">
                          <a:solidFill>
                            <a:srgbClr val="232A2E"/>
                          </a:solidFill>
                          <a:latin typeface="Calibri"/>
                        </a:rPr>
                        <a:t>models/model.py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232A2E"/>
                          </a:solidFill>
                          <a:latin typeface="Calibri"/>
                        </a:rPr>
                        <a:t>Definir o autoencoder (nn.Module, forward) e calcular o erro de reconstrução por janela.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232A2E"/>
                          </a:solidFill>
                          <a:latin typeface="Calibri"/>
                        </a:rPr>
                        <a:t>tensor → tensor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1">
                          <a:solidFill>
                            <a:srgbClr val="232A2E"/>
                          </a:solidFill>
                          <a:latin typeface="Calibri"/>
                        </a:rPr>
                        <a:t>models/persistence.py</a:t>
                      </a:r>
                    </a:p>
                  </a:txBody>
                  <a:tcPr marL="82296" marR="64008" marT="27432" marB="27432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232A2E"/>
                          </a:solidFill>
                          <a:latin typeface="Calibri"/>
                        </a:rPr>
                        <a:t>Salvar e carregar os pesos (state_dict) do modelo treinado.</a:t>
                      </a:r>
                    </a:p>
                  </a:txBody>
                  <a:tcPr marL="82296" marR="64008" marT="27432" marB="27432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232A2E"/>
                          </a:solidFill>
                          <a:latin typeface="Calibri"/>
                        </a:rPr>
                        <a:t>modelo ↔ arquivo .pt</a:t>
                      </a:r>
                    </a:p>
                  </a:txBody>
                  <a:tcPr marL="82296" marR="64008" marT="27432" marB="27432" anchor="ctr">
                    <a:solidFill>
                      <a:srgbClr val="EA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1">
                          <a:solidFill>
                            <a:srgbClr val="232A2E"/>
                          </a:solidFill>
                          <a:latin typeface="Calibri"/>
                        </a:rPr>
                        <a:t>training/train.py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232A2E"/>
                          </a:solidFill>
                          <a:latin typeface="Calibri"/>
                        </a:rPr>
                        <a:t>Montar TensorDataset/DataLoader e executar o laço de treino e validação.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232A2E"/>
                          </a:solidFill>
                          <a:latin typeface="Calibri"/>
                        </a:rPr>
                        <a:t>matrizes → modelo + histórico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1">
                          <a:solidFill>
                            <a:srgbClr val="232A2E"/>
                          </a:solidFill>
                          <a:latin typeface="Calibri"/>
                        </a:rPr>
                        <a:t>evaluation/metrics.py</a:t>
                      </a:r>
                    </a:p>
                  </a:txBody>
                  <a:tcPr marL="82296" marR="64008" marT="27432" marB="27432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232A2E"/>
                          </a:solidFill>
                          <a:latin typeface="Calibri"/>
                        </a:rPr>
                        <a:t>Derivar o limiar, binarizar os erros e calcular precisão, recall, F1 e acurácia.</a:t>
                      </a:r>
                    </a:p>
                  </a:txBody>
                  <a:tcPr marL="82296" marR="64008" marT="27432" marB="27432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232A2E"/>
                          </a:solidFill>
                          <a:latin typeface="Calibri"/>
                        </a:rPr>
                        <a:t>erros + rótulos → métricas</a:t>
                      </a:r>
                    </a:p>
                  </a:txBody>
                  <a:tcPr marL="82296" marR="64008" marT="27432" marB="27432" anchor="ctr">
                    <a:solidFill>
                      <a:srgbClr val="EA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1">
                          <a:solidFill>
                            <a:srgbClr val="232A2E"/>
                          </a:solidFill>
                          <a:latin typeface="Calibri"/>
                        </a:rPr>
                        <a:t>utils/config.py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232A2E"/>
                          </a:solidFill>
                          <a:latin typeface="Calibri"/>
                        </a:rPr>
                        <a:t>Fonte única de caminhos e hiperparâmetros do projeto.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232A2E"/>
                          </a:solidFill>
                          <a:latin typeface="Calibri"/>
                        </a:rPr>
                        <a:t>— (constantes)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4572000"/>
            <a:ext cx="6720840" cy="1772412"/>
          </a:xfrm>
          <a:prstGeom prst="rect">
            <a:avLst/>
          </a:prstGeom>
          <a:solidFill>
            <a:srgbClr val="142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4681728"/>
            <a:ext cx="6428232" cy="15895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7FA3B0"/>
                </a:solidFill>
                <a:latin typeface="Consolas"/>
              </a:rPr>
              <a:t># main.py - a integracao, em ordem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E4EBEF"/>
                </a:solidFill>
                <a:latin typeface="Consolas"/>
              </a:rPr>
              <a:t>train_clean = clean_data(load_data(config.TRAIN_PATH))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E4EBEF"/>
                </a:solidFill>
                <a:latin typeface="Consolas"/>
              </a:rPr>
              <a:t>X_train, X_val, _, _ = split_data(X_full, time_index, test_size=0.2)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E4EBEF"/>
                </a:solidFill>
                <a:latin typeface="Consolas"/>
              </a:rPr>
              <a:t>X_train, mean, std   = standardize(X_train)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0B860"/>
                </a:solidFill>
                <a:latin typeface="Consolas"/>
              </a:rPr>
              <a:t>X_val,   _,    _     = standardize(X_val, mean=mean, std=std)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E4EBEF"/>
                </a:solidFill>
                <a:latin typeface="Consolas"/>
              </a:rPr>
              <a:t>model     = create_model(input_dim=X_train.shape[1], device=device)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E4EBEF"/>
                </a:solidFill>
                <a:latin typeface="Consolas"/>
              </a:rPr>
              <a:t>resultado = train_model(model, X_train, X_val, device=device)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E4EBEF"/>
                </a:solidFill>
                <a:latin typeface="Consolas"/>
              </a:rPr>
              <a:t>save_model(model)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E4EBEF"/>
                </a:solidFill>
                <a:latin typeface="Consolas"/>
              </a:rPr>
              <a:t>threshold = reconstruction_threshold(err_train, ANOMALY_PERCENTILE)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E4EBEF"/>
                </a:solidFill>
                <a:latin typeface="Consolas"/>
              </a:rPr>
              <a:t>metrics   = calculate_metrics(y_aligned, predict_anomalies(err, threshold))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25512" y="4572000"/>
            <a:ext cx="4099255" cy="1772412"/>
          </a:xfrm>
          <a:prstGeom prst="rect">
            <a:avLst/>
          </a:prstGeom>
          <a:solidFill>
            <a:srgbClr val="EAF1F5"/>
          </a:solidFill>
          <a:ln w="9525">
            <a:solidFill>
              <a:srgbClr val="DC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25512" y="4572000"/>
            <a:ext cx="50292" cy="1772412"/>
          </a:xfrm>
          <a:prstGeom prst="rect">
            <a:avLst/>
          </a:prstGeom>
          <a:solidFill>
            <a:srgbClr val="C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80" y="4718304"/>
            <a:ext cx="3696919" cy="14980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1" i="0">
                <a:solidFill>
                  <a:srgbClr val="0F3A52"/>
                </a:solidFill>
                <a:latin typeface="Calibri"/>
              </a:rPr>
              <a:t>Como o main.py integra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0" i="0">
                <a:solidFill>
                  <a:srgbClr val="232A2E"/>
                </a:solidFill>
                <a:latin typeface="Calibri"/>
              </a:rPr>
              <a:t>Ele chama uma função de cada módulo, na ordem, e passa o resultado adiante. Nenhum módulo chama outro: quem conhece a sequência é só o orquestrador.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0" i="0">
                <a:solidFill>
                  <a:srgbClr val="232A2E"/>
                </a:solidFill>
                <a:latin typeface="Calibri"/>
              </a:rPr>
              <a:t>Na linha destacada está a decisão D4 em ação — a validação é padronizada com a média e o desvio vindos do treino.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C6C8F"/>
                </a:solidFill>
                <a:latin typeface="Calibri"/>
              </a:rPr>
              <a:t>IMPLEMENTAÇÃO · INTERFACES CLARAS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3A52"/>
                </a:solidFill>
                <a:latin typeface="Calibri"/>
              </a:rPr>
              <a:t>Código Python, NumPy e tipagem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97864"/>
            <a:ext cx="1051560" cy="41148"/>
          </a:xfrm>
          <a:prstGeom prst="rect">
            <a:avLst/>
          </a:prstGeom>
          <a:solidFill>
            <a:srgbClr val="C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780"/>
                </a:solidFill>
                <a:latin typeface="Calibri"/>
              </a:rPr>
              <a:t>Detector de Anomalias em Métricas de Servidores (SMD)  |  Grupo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2823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780"/>
                </a:solidFill>
                <a:latin typeface="Calibri"/>
              </a:rPr>
              <a:t>9/13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5440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C6C8F"/>
                </a:solidFill>
                <a:latin typeface="Calibri"/>
              </a:rPr>
              <a:t>src/preprocessing/transform.py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755648"/>
            <a:ext cx="5440680" cy="2612440"/>
          </a:xfrm>
          <a:prstGeom prst="rect">
            <a:avLst/>
          </a:prstGeom>
          <a:solidFill>
            <a:srgbClr val="142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865376"/>
            <a:ext cx="5148072" cy="2429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4EBEF"/>
                </a:solidFill>
                <a:latin typeface="Consolas"/>
              </a:rPr>
              <a:t>def standardize(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4EBEF"/>
                </a:solidFill>
                <a:latin typeface="Consolas"/>
              </a:rPr>
              <a:t>    X: np.ndarray,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4EBEF"/>
                </a:solidFill>
                <a:latin typeface="Consolas"/>
              </a:rPr>
              <a:t>    mean: np.ndarray | None = None,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4EBEF"/>
                </a:solidFill>
                <a:latin typeface="Consolas"/>
              </a:rPr>
              <a:t>    std: np.ndarray | None = None,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0B860"/>
                </a:solidFill>
                <a:latin typeface="Consolas"/>
              </a:rPr>
              <a:t>) -&gt; tuple[np.ndarray, np.ndarray, np.ndarray]: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7FA3B0"/>
                </a:solidFill>
                <a:latin typeface="Consolas"/>
              </a:rPr>
              <a:t>    """Padroniza os atributos para media 0 e desvio 1."""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4EBEF"/>
                </a:solidFill>
                <a:latin typeface="Consolas"/>
              </a:rPr>
              <a:t>    X_float = np.asarray(X, dtype=float)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4EBEF"/>
                </a:solidFill>
                <a:latin typeface="Consolas"/>
              </a:rPr>
              <a:t> 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4EBEF"/>
                </a:solidFill>
                <a:latin typeface="Consolas"/>
              </a:rPr>
              <a:t>    if mean is None or std is None: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0B860"/>
                </a:solidFill>
                <a:latin typeface="Consolas"/>
              </a:rPr>
              <a:t>        mean = np.mean(X_float, axis=0)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0B860"/>
                </a:solidFill>
                <a:latin typeface="Consolas"/>
              </a:rPr>
              <a:t>        std  = np.std(X_float, axis=0)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4EBEF"/>
                </a:solidFill>
                <a:latin typeface="Consolas"/>
              </a:rPr>
              <a:t> 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0B860"/>
                </a:solidFill>
                <a:latin typeface="Consolas"/>
              </a:rPr>
              <a:t>    safe_std = np.where(std == 0, 1.0, std)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4EBEF"/>
                </a:solidFill>
                <a:latin typeface="Consolas"/>
              </a:rPr>
              <a:t>    return (X_float - mean) / safe_std, mean, std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477816"/>
            <a:ext cx="5440680" cy="1849832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4477816"/>
            <a:ext cx="50292" cy="1849832"/>
          </a:xfrm>
          <a:prstGeom prst="rect">
            <a:avLst/>
          </a:prstGeom>
          <a:solidFill>
            <a:srgbClr val="C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4605832"/>
            <a:ext cx="5020056" cy="1593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 i="0">
                <a:solidFill>
                  <a:srgbClr val="232A2E"/>
                </a:solidFill>
                <a:latin typeface="Calibri"/>
              </a:rPr>
              <a:t>ENTRADA / SAÍDA   matriz (n_amostras, 38), opcionalmente com média e desvio já calculados → tupla com a matriz padronizada + a média + o desvio usados.</a:t>
            </a:r>
          </a:p>
          <a:p>
            <a:pPr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 i="0">
                <a:solidFill>
                  <a:srgbClr val="232A2E"/>
                </a:solidFill>
                <a:latin typeface="Calibri"/>
              </a:rPr>
              <a:t>NUMPY   np.mean e np.std com axis=0 calculam por coluna, ou seja, por métrica. A subtração e a divisão são vetorizadas: uma operação sobre a matriz inteira, sem laço.</a:t>
            </a:r>
          </a:p>
          <a:p>
            <a:pPr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 i="0">
                <a:solidFill>
                  <a:srgbClr val="232A2E"/>
                </a:solidFill>
                <a:latin typeface="Calibri"/>
              </a:rPr>
              <a:t>TIPAGEM   o | None diz que os parâmetros são opcionais; o tipo de retorno declara as três saídas. Quem chama não precisa ler o corpo da função.</a:t>
            </a:r>
          </a:p>
          <a:p>
            <a:pPr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 i="0">
                <a:solidFill>
                  <a:srgbClr val="232A2E"/>
                </a:solidFill>
                <a:latin typeface="Calibri"/>
              </a:rPr>
              <a:t>RESPONSABILIDADE   faz UMA coisa: padroniza. É a mesma função em dois modos — calcula as estatísticas (treino) ou aplica as recebidas (validação e teste).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1344" y="1481328"/>
            <a:ext cx="5440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C6C8F"/>
                </a:solidFill>
                <a:latin typeface="Calibri"/>
              </a:rPr>
              <a:t>src/models/model.py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5440680" cy="2442819"/>
          </a:xfrm>
          <a:prstGeom prst="rect">
            <a:avLst/>
          </a:prstGeom>
          <a:solidFill>
            <a:srgbClr val="142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1865376"/>
            <a:ext cx="5148072" cy="22599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4EBEF"/>
                </a:solidFill>
                <a:latin typeface="Consolas"/>
              </a:rPr>
              <a:t>def reconstruction_error(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4EBEF"/>
                </a:solidFill>
                <a:latin typeface="Consolas"/>
              </a:rPr>
              <a:t>    model: Autoencoder,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4EBEF"/>
                </a:solidFill>
                <a:latin typeface="Consolas"/>
              </a:rPr>
              <a:t>    X: np.ndarray,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4EBEF"/>
                </a:solidFill>
                <a:latin typeface="Consolas"/>
              </a:rPr>
              <a:t>    window_size: int = config.WINDOW_SIZE,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4EBEF"/>
                </a:solidFill>
                <a:latin typeface="Consolas"/>
              </a:rPr>
              <a:t>    device: str = config.DEVICE,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0B860"/>
                </a:solidFill>
                <a:latin typeface="Consolas"/>
              </a:rPr>
              <a:t>) -&gt; np.ndarray: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7FA3B0"/>
                </a:solidFill>
                <a:latin typeface="Consolas"/>
              </a:rPr>
              <a:t>    """Erro de reconstrucao (MSE) por janela."""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4EBEF"/>
                </a:solidFill>
                <a:latin typeface="Consolas"/>
              </a:rPr>
              <a:t>    X_array = np.asarray(X, dtype=np.float32)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4EBEF"/>
                </a:solidFill>
                <a:latin typeface="Consolas"/>
              </a:rPr>
              <a:t>    ...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0B860"/>
                </a:solidFill>
                <a:latin typeface="Consolas"/>
              </a:rPr>
              <a:t>    windows = sliding_window_view(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0B860"/>
                </a:solidFill>
                <a:latin typeface="Consolas"/>
              </a:rPr>
              <a:t>        X_array, window_shape=window_size, axis=0)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4EBEF"/>
                </a:solidFill>
                <a:latin typeface="Consolas"/>
              </a:rPr>
              <a:t>    errors = torch.mean(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4EBEF"/>
                </a:solidFill>
                <a:latin typeface="Consolas"/>
              </a:rPr>
              <a:t>        (reconstructed[:, -1, :] - batch[:, -1, :]) ** 2, dim=1)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1344" y="4477816"/>
            <a:ext cx="5440680" cy="1849832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1344" y="4477816"/>
            <a:ext cx="50292" cy="1849832"/>
          </a:xfrm>
          <a:prstGeom prst="rect">
            <a:avLst/>
          </a:prstGeom>
          <a:solidFill>
            <a:srgbClr val="C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605832"/>
            <a:ext cx="5020056" cy="1593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 i="0">
                <a:solidFill>
                  <a:srgbClr val="232A2E"/>
                </a:solidFill>
                <a:latin typeface="Calibri"/>
              </a:rPr>
              <a:t>ENTRADA / SAÍDA   o modelo treinado e a matriz padronizada (n_amostras, 38) → vetor 1-D com um erro por janela, de tamanho n_amostras − 50 + 1.</a:t>
            </a:r>
          </a:p>
          <a:p>
            <a:pPr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 i="0">
                <a:solidFill>
                  <a:srgbClr val="232A2E"/>
                </a:solidFill>
                <a:latin typeface="Calibri"/>
              </a:rPr>
              <a:t>NUMPY   sliding_window_view constrói todas as janelas SEM copiar os dados: é uma visão sobre a mesma memória. Com 28 mil janelas de 50×38, copiar seria caro.</a:t>
            </a:r>
          </a:p>
          <a:p>
            <a:pPr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 i="0">
                <a:solidFill>
                  <a:srgbClr val="232A2E"/>
                </a:solidFill>
                <a:latin typeface="Calibri"/>
              </a:rPr>
              <a:t>TIPAGEM   o parâmetro é tipado como Autoencoder, não como “objeto qualquer”: o contrato exige o modelo certo, e o editor avisa antes de rodar.</a:t>
            </a:r>
          </a:p>
          <a:p>
            <a:pPr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 i="0">
                <a:solidFill>
                  <a:srgbClr val="232A2E"/>
                </a:solidFill>
                <a:latin typeface="Calibri"/>
              </a:rPr>
              <a:t>RESPONSABILIDADE   produz o escore. Não decide o que é anomalia — essa decisão é do evaluation/metrics.py, que compara o escore ao limiar.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C6C8F"/>
                </a:solidFill>
                <a:latin typeface="Calibri"/>
              </a:rPr>
              <a:t>IMPLEMENTAÇÃO · O MODELO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3A52"/>
                </a:solidFill>
                <a:latin typeface="Calibri"/>
              </a:rPr>
              <a:t>Implementação do modelo em PyTorch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97864"/>
            <a:ext cx="1051560" cy="41148"/>
          </a:xfrm>
          <a:prstGeom prst="rect">
            <a:avLst/>
          </a:prstGeom>
          <a:solidFill>
            <a:srgbClr val="C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780"/>
                </a:solidFill>
                <a:latin typeface="Calibri"/>
              </a:rPr>
              <a:t>Detector de Anomalias em Métricas de Servidores (SMD)  |  Grupo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2823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780"/>
                </a:solidFill>
                <a:latin typeface="Calibri"/>
              </a:rPr>
              <a:t>10/13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81328"/>
            <a:ext cx="6309360" cy="3460546"/>
          </a:xfrm>
          <a:prstGeom prst="rect">
            <a:avLst/>
          </a:prstGeom>
          <a:solidFill>
            <a:srgbClr val="142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591056"/>
            <a:ext cx="6016752" cy="32776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0B860"/>
                </a:solidFill>
                <a:latin typeface="Consolas"/>
              </a:rPr>
              <a:t>class Autoencoder(nn.Module):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4EBEF"/>
                </a:solidFill>
                <a:latin typeface="Consolas"/>
              </a:rPr>
              <a:t>    def __init__(self, input_dim: int,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4EBEF"/>
                </a:solidFill>
                <a:latin typeface="Consolas"/>
              </a:rPr>
              <a:t>                 window_size: int = config.WINDOW_SIZE,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4EBEF"/>
                </a:solidFill>
                <a:latin typeface="Consolas"/>
              </a:rPr>
              <a:t>                 hidden_dims: tuple[int, ...] = (64, 32),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4EBEF"/>
                </a:solidFill>
                <a:latin typeface="Consolas"/>
              </a:rPr>
              <a:t>                 latent_dim: int = 16) -&gt; None: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4EBEF"/>
                </a:solidFill>
                <a:latin typeface="Consolas"/>
              </a:rPr>
              <a:t>        super().__init__()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4EBEF"/>
                </a:solidFill>
                <a:latin typeface="Consolas"/>
              </a:rPr>
              <a:t>        self.flat_dim = input_dim * window_size   # 38 x 50 = 1900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4EBEF"/>
                </a:solidFill>
                <a:latin typeface="Consolas"/>
              </a:rPr>
              <a:t> 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4EBEF"/>
                </a:solidFill>
                <a:latin typeface="Consolas"/>
              </a:rPr>
              <a:t>        encoder_dims = (self.flat_dim, *hidden_dims, latent_dim)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4EBEF"/>
                </a:solidFill>
                <a:latin typeface="Consolas"/>
              </a:rPr>
              <a:t>        decoder_dims = (latent_dim, *reversed(hidden_dims), self.flat_dim)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4EBEF"/>
                </a:solidFill>
                <a:latin typeface="Consolas"/>
              </a:rPr>
              <a:t>        self.encoder = self._build_mlp(encoder_dims)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4EBEF"/>
                </a:solidFill>
                <a:latin typeface="Consolas"/>
              </a:rPr>
              <a:t>        self.decoder = self._build_mlp(decoder_dims)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4EBEF"/>
                </a:solidFill>
                <a:latin typeface="Consolas"/>
              </a:rPr>
              <a:t> 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0B860"/>
                </a:solidFill>
                <a:latin typeface="Consolas"/>
              </a:rPr>
              <a:t>    def forward(self, x: torch.Tensor) -&gt; torch.Tensor: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4EBEF"/>
                </a:solidFill>
                <a:latin typeface="Consolas"/>
              </a:rPr>
              <a:t>        flattened     = x.reshape(x.shape[0], self.flat_dim)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4EBEF"/>
                </a:solidFill>
                <a:latin typeface="Consolas"/>
              </a:rPr>
              <a:t>        latent        = self.encoder(flattened)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4EBEF"/>
                </a:solidFill>
                <a:latin typeface="Consolas"/>
              </a:rPr>
              <a:t>        reconstructed = self.decoder(latent)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4EBEF"/>
                </a:solidFill>
                <a:latin typeface="Consolas"/>
              </a:rPr>
              <a:t>        return reconstructed.reshape(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4EBEF"/>
                </a:solidFill>
                <a:latin typeface="Consolas"/>
              </a:rPr>
              <a:t>            x.shape[0], self.window_size, self.input_dim)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124754"/>
            <a:ext cx="6309360" cy="1202894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5124754"/>
            <a:ext cx="50292" cy="1202894"/>
          </a:xfrm>
          <a:prstGeom prst="rect">
            <a:avLst/>
          </a:prstGeom>
          <a:solidFill>
            <a:srgbClr val="0F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5252770"/>
            <a:ext cx="5897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3A52"/>
                </a:solidFill>
                <a:latin typeface="Calibri"/>
              </a:rPr>
              <a:t>O FUNIL: a janela é comprimida e reconstruída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5600242"/>
            <a:ext cx="713232" cy="402336"/>
          </a:xfrm>
          <a:prstGeom prst="rect">
            <a:avLst/>
          </a:prstGeom>
          <a:solidFill>
            <a:srgbClr val="EA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691682"/>
            <a:ext cx="71323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F3A52"/>
                </a:solidFill>
                <a:latin typeface="Calibri"/>
              </a:rPr>
              <a:t>1900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591056" y="5746546"/>
            <a:ext cx="109728" cy="100584"/>
          </a:xfrm>
          <a:prstGeom prst="rightArrow">
            <a:avLst/>
          </a:prstGeom>
          <a:solidFill>
            <a:srgbClr val="6B7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37360" y="5600242"/>
            <a:ext cx="713232" cy="402336"/>
          </a:xfrm>
          <a:prstGeom prst="rect">
            <a:avLst/>
          </a:prstGeom>
          <a:solidFill>
            <a:srgbClr val="EA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37360" y="5691682"/>
            <a:ext cx="71323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F3A52"/>
                </a:solidFill>
                <a:latin typeface="Calibri"/>
              </a:rPr>
              <a:t>64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487168" y="5746546"/>
            <a:ext cx="109728" cy="100584"/>
          </a:xfrm>
          <a:prstGeom prst="rightArrow">
            <a:avLst/>
          </a:prstGeom>
          <a:solidFill>
            <a:srgbClr val="6B7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33472" y="5600242"/>
            <a:ext cx="713232" cy="402336"/>
          </a:xfrm>
          <a:prstGeom prst="rect">
            <a:avLst/>
          </a:prstGeom>
          <a:solidFill>
            <a:srgbClr val="EA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33472" y="5691682"/>
            <a:ext cx="71323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F3A52"/>
                </a:solidFill>
                <a:latin typeface="Calibri"/>
              </a:rPr>
              <a:t>32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383280" y="5746546"/>
            <a:ext cx="109728" cy="100584"/>
          </a:xfrm>
          <a:prstGeom prst="rightArrow">
            <a:avLst/>
          </a:prstGeom>
          <a:solidFill>
            <a:srgbClr val="6B7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29584" y="5600242"/>
            <a:ext cx="713232" cy="402336"/>
          </a:xfrm>
          <a:prstGeom prst="rect">
            <a:avLst/>
          </a:prstGeom>
          <a:solidFill>
            <a:srgbClr val="C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9584" y="5691682"/>
            <a:ext cx="71323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279392" y="5746546"/>
            <a:ext cx="109728" cy="100584"/>
          </a:xfrm>
          <a:prstGeom prst="rightArrow">
            <a:avLst/>
          </a:prstGeom>
          <a:solidFill>
            <a:srgbClr val="6B7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25696" y="5600242"/>
            <a:ext cx="713232" cy="402336"/>
          </a:xfrm>
          <a:prstGeom prst="rect">
            <a:avLst/>
          </a:prstGeom>
          <a:solidFill>
            <a:srgbClr val="EA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25696" y="5691682"/>
            <a:ext cx="71323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F3A52"/>
                </a:solidFill>
                <a:latin typeface="Calibri"/>
              </a:rPr>
              <a:t>32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175504" y="5746546"/>
            <a:ext cx="109728" cy="100584"/>
          </a:xfrm>
          <a:prstGeom prst="rightArrow">
            <a:avLst/>
          </a:prstGeom>
          <a:solidFill>
            <a:srgbClr val="6B7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21808" y="5600242"/>
            <a:ext cx="713232" cy="402336"/>
          </a:xfrm>
          <a:prstGeom prst="rect">
            <a:avLst/>
          </a:prstGeom>
          <a:solidFill>
            <a:srgbClr val="EA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21808" y="5691682"/>
            <a:ext cx="71323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F3A52"/>
                </a:solidFill>
                <a:latin typeface="Calibri"/>
              </a:rPr>
              <a:t>64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6071616" y="5746546"/>
            <a:ext cx="109728" cy="100584"/>
          </a:xfrm>
          <a:prstGeom prst="rightArrow">
            <a:avLst/>
          </a:prstGeom>
          <a:solidFill>
            <a:srgbClr val="6B7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5600242"/>
            <a:ext cx="713232" cy="402336"/>
          </a:xfrm>
          <a:prstGeom prst="rect">
            <a:avLst/>
          </a:prstGeom>
          <a:solidFill>
            <a:srgbClr val="EA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5691682"/>
            <a:ext cx="71323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F3A52"/>
                </a:solidFill>
                <a:latin typeface="Calibri"/>
              </a:rPr>
              <a:t>1900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6075730"/>
            <a:ext cx="2377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780"/>
                </a:solidFill>
                <a:latin typeface="Calibri"/>
              </a:rPr>
              <a:t>encoder  (comprime)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9584" y="6075730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8862A"/>
                </a:solidFill>
                <a:latin typeface="Calibri"/>
              </a:rPr>
              <a:t>gargalo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81728" y="6075730"/>
            <a:ext cx="2377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780"/>
                </a:solidFill>
                <a:latin typeface="Calibri"/>
              </a:rPr>
              <a:t>decoder  (reconstrói)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14032" y="1481328"/>
            <a:ext cx="4510735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114032" y="1481328"/>
            <a:ext cx="50292" cy="4846320"/>
          </a:xfrm>
          <a:prstGeom prst="rect">
            <a:avLst/>
          </a:prstGeom>
          <a:solidFill>
            <a:srgbClr val="C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33488" y="1627632"/>
            <a:ext cx="409011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C6C8F"/>
                </a:solidFill>
                <a:latin typeface="Calibri"/>
              </a:rPr>
              <a:t>FICHA TÉCNICA DO TREINO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33488" y="1901952"/>
            <a:ext cx="4090111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950" b="1" i="0">
                <a:solidFill>
                  <a:srgbClr val="C8862A"/>
                </a:solidFill>
                <a:latin typeface="Calibri"/>
              </a:rPr>
              <a:t>ARQUITETURA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 i="0">
                <a:solidFill>
                  <a:srgbClr val="232A2E"/>
                </a:solidFill>
                <a:latin typeface="Calibri"/>
              </a:rPr>
              <a:t>MLP simétrico: encoder 1900→64→32→16, decoder espelhado. Ativação ReLU entre camadas.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950" b="1" i="0">
                <a:solidFill>
                  <a:srgbClr val="C8862A"/>
                </a:solidFill>
                <a:latin typeface="Calibri"/>
              </a:rPr>
              <a:t>PARÂMETROS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 i="0">
                <a:solidFill>
                  <a:srgbClr val="232A2E"/>
                </a:solidFill>
                <a:latin typeface="Calibri"/>
              </a:rPr>
              <a:t>250.428 pesos treináveis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950" b="1" i="0">
                <a:solidFill>
                  <a:srgbClr val="C8862A"/>
                </a:solidFill>
                <a:latin typeface="Calibri"/>
              </a:rPr>
              <a:t>FUNÇÃO DE PERDA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 i="0">
                <a:solidFill>
                  <a:srgbClr val="232A2E"/>
                </a:solidFill>
                <a:latin typeface="Calibri"/>
              </a:rPr>
              <a:t>nn.MSELoss — erro quadrático médio entre a janela e sua reconstrução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950" b="1" i="0">
                <a:solidFill>
                  <a:srgbClr val="C8862A"/>
                </a:solidFill>
                <a:latin typeface="Calibri"/>
              </a:rPr>
              <a:t>OTIMIZADOR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 i="0">
                <a:solidFill>
                  <a:srgbClr val="232A2E"/>
                </a:solidFill>
                <a:latin typeface="Calibri"/>
              </a:rPr>
              <a:t>torch.optim.Adam, learning rate 1e-3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950" b="1" i="0">
                <a:solidFill>
                  <a:srgbClr val="C8862A"/>
                </a:solidFill>
                <a:latin typeface="Calibri"/>
              </a:rPr>
              <a:t>ÉPOCAS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 i="0">
                <a:solidFill>
                  <a:srgbClr val="232A2E"/>
                </a:solidFill>
                <a:latin typeface="Calibri"/>
              </a:rPr>
              <a:t>máximo 100, executadas 71 (early stopping, paciência 10)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950" b="1" i="0">
                <a:solidFill>
                  <a:srgbClr val="C8862A"/>
                </a:solidFill>
                <a:latin typeface="Calibri"/>
              </a:rPr>
              <a:t>BATCH SIZE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 i="0">
                <a:solidFill>
                  <a:srgbClr val="232A2E"/>
                </a:solidFill>
                <a:latin typeface="Calibri"/>
              </a:rPr>
              <a:t>64 janelas por lote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950" b="1" i="0">
                <a:solidFill>
                  <a:srgbClr val="C8862A"/>
                </a:solidFill>
                <a:latin typeface="Calibri"/>
              </a:rPr>
              <a:t>DEVICE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 i="0">
                <a:solidFill>
                  <a:srgbClr val="232A2E"/>
                </a:solidFill>
                <a:latin typeface="Calibri"/>
              </a:rPr>
              <a:t>CPU — get_device(prefer_cuda=False); nenhuma GPU foi necessária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950" b="1" i="0">
                <a:solidFill>
                  <a:srgbClr val="C8862A"/>
                </a:solidFill>
                <a:latin typeface="Calibri"/>
              </a:rPr>
              <a:t>ESTABILIDADE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 i="0">
                <a:solidFill>
                  <a:srgbClr val="232A2E"/>
                </a:solidFill>
                <a:latin typeface="Calibri"/>
              </a:rPr>
              <a:t>ReduceLROnPlateau (fator 0,5) + gradient clipping (norma 1,0)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950" b="1" i="0">
                <a:solidFill>
                  <a:srgbClr val="C8862A"/>
                </a:solidFill>
                <a:latin typeface="Calibri"/>
              </a:rPr>
              <a:t>SALVAR / CARREGAR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 i="0">
                <a:solidFill>
                  <a:srgbClr val="232A2E"/>
                </a:solidFill>
                <a:latin typeface="Calibri"/>
              </a:rPr>
              <a:t>save_model grava o state_dict em artifacts/autoencoder.pt; load_model restaura numa instância criada com a mesma arquitetura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C6C8F"/>
                </a:solidFill>
                <a:latin typeface="Calibri"/>
              </a:rPr>
              <a:t>EXPERIMENTOS · O QUE QUISEMOS DESCOBRIR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3A52"/>
                </a:solidFill>
                <a:latin typeface="Calibri"/>
              </a:rPr>
              <a:t>Configuração experimental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97864"/>
            <a:ext cx="1051560" cy="41148"/>
          </a:xfrm>
          <a:prstGeom prst="rect">
            <a:avLst/>
          </a:prstGeom>
          <a:solidFill>
            <a:srgbClr val="C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780"/>
                </a:solidFill>
                <a:latin typeface="Calibri"/>
              </a:rPr>
              <a:t>Detector de Anomalias em Métricas de Servidores (SMD)  |  Grupo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2823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780"/>
                </a:solidFill>
                <a:latin typeface="Calibri"/>
              </a:rPr>
              <a:t>11/13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3A52"/>
                </a:solidFill>
                <a:latin typeface="Calibri"/>
              </a:rPr>
              <a:t>O QUE QUERÍAMOS DESCOBRIR:   a capacidade do modelo muda a qualidade da detecção — ou a alavanca real é o limiar?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28800"/>
            <a:ext cx="356616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28800"/>
            <a:ext cx="50292" cy="932688"/>
          </a:xfrm>
          <a:prstGeom prst="rect">
            <a:avLst/>
          </a:prstGeom>
          <a:solidFill>
            <a:srgbClr val="C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938528"/>
            <a:ext cx="318211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3A52"/>
                </a:solidFill>
                <a:latin typeface="Calibri"/>
              </a:rPr>
              <a:t>Divisão dos dados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194560"/>
            <a:ext cx="318211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232A2E"/>
                </a:solidFill>
                <a:latin typeface="Calibri"/>
              </a:rPr>
              <a:t>Treino 80% / validação 20% do arquivo train, em corte temporal (sem embaralhar). O arquivo test é usado só na avaliação final.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356616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1828800"/>
            <a:ext cx="50292" cy="932688"/>
          </a:xfrm>
          <a:prstGeom prst="rect">
            <a:avLst/>
          </a:prstGeom>
          <a:solidFill>
            <a:srgbClr val="C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1938528"/>
            <a:ext cx="318211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3A52"/>
                </a:solidFill>
                <a:latin typeface="Calibri"/>
              </a:rPr>
              <a:t>Métricas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194560"/>
            <a:ext cx="318211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232A2E"/>
                </a:solidFill>
                <a:latin typeface="Calibri"/>
              </a:rPr>
              <a:t>Precisão, recall, F1 e acurácia, calculadas em NumPy puro contra o test_label.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65008" y="1828800"/>
            <a:ext cx="356616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65008" y="1828800"/>
            <a:ext cx="50292" cy="932688"/>
          </a:xfrm>
          <a:prstGeom prst="rect">
            <a:avLst/>
          </a:prstGeom>
          <a:solidFill>
            <a:srgbClr val="C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6176" y="1938528"/>
            <a:ext cx="318211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3A52"/>
                </a:solidFill>
                <a:latin typeface="Calibri"/>
              </a:rPr>
              <a:t>Controle de variáveis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6" y="2194560"/>
            <a:ext cx="318211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232A2E"/>
                </a:solidFill>
                <a:latin typeface="Calibri"/>
              </a:rPr>
              <a:t>Semente fixa (42) e mesmo pré-processamento em todas as execuções: a única coisa que muda entre configurações é o hiperparâmetro em teste.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66928" y="2889504"/>
          <a:ext cx="11057834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5121"/>
                <a:gridCol w="3040905"/>
                <a:gridCol w="1161073"/>
                <a:gridCol w="829337"/>
                <a:gridCol w="1050494"/>
                <a:gridCol w="995205"/>
                <a:gridCol w="939916"/>
                <a:gridCol w="1105783"/>
              </a:tblGrid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Config</a:t>
                      </a:r>
                    </a:p>
                  </a:txBody>
                  <a:tcPr marL="82296" marR="64008" marT="27432" marB="27432" anchor="ctr">
                    <a:solidFill>
                      <a:srgbClr val="0F3A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 que muda</a:t>
                      </a:r>
                    </a:p>
                  </a:txBody>
                  <a:tcPr marL="82296" marR="64008" marT="27432" marB="27432" anchor="ctr">
                    <a:solidFill>
                      <a:srgbClr val="0F3A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Parâmetros</a:t>
                      </a:r>
                    </a:p>
                  </a:txBody>
                  <a:tcPr marL="82296" marR="64008" marT="27432" marB="27432" anchor="ctr">
                    <a:solidFill>
                      <a:srgbClr val="0F3A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Épocas</a:t>
                      </a:r>
                    </a:p>
                  </a:txBody>
                  <a:tcPr marL="82296" marR="64008" marT="27432" marB="27432" anchor="ctr">
                    <a:solidFill>
                      <a:srgbClr val="0F3A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Erro val.</a:t>
                      </a:r>
                    </a:p>
                  </a:txBody>
                  <a:tcPr marL="82296" marR="64008" marT="27432" marB="27432" anchor="ctr">
                    <a:solidFill>
                      <a:srgbClr val="0F3A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Precisão</a:t>
                      </a:r>
                    </a:p>
                  </a:txBody>
                  <a:tcPr marL="82296" marR="64008" marT="27432" marB="27432" anchor="ctr">
                    <a:solidFill>
                      <a:srgbClr val="0F3A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82296" marR="64008" marT="27432" marB="27432" anchor="ctr">
                    <a:solidFill>
                      <a:srgbClr val="0F3A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82296" marR="64008" marT="27432" marB="27432" anchor="ctr">
                    <a:solidFill>
                      <a:srgbClr val="0F3A52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1">
                          <a:solidFill>
                            <a:srgbClr val="232A2E"/>
                          </a:solidFill>
                          <a:latin typeface="Calibri"/>
                        </a:rPr>
                        <a:t>A — Baseline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>
                          <a:solidFill>
                            <a:srgbClr val="232A2E"/>
                          </a:solidFill>
                          <a:latin typeface="Calibri"/>
                        </a:rPr>
                        <a:t>janela 50 - latente 16 - encoder (64,32)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>
                          <a:solidFill>
                            <a:srgbClr val="232A2E"/>
                          </a:solidFill>
                          <a:latin typeface="Calibri"/>
                        </a:rPr>
                        <a:t>250.428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>
                          <a:solidFill>
                            <a:srgbClr val="232A2E"/>
                          </a:solidFill>
                          <a:latin typeface="Calibri"/>
                        </a:rPr>
                        <a:t>71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>
                          <a:solidFill>
                            <a:srgbClr val="232A2E"/>
                          </a:solidFill>
                          <a:latin typeface="Calibri"/>
                        </a:rPr>
                        <a:t>0,1896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>
                          <a:solidFill>
                            <a:srgbClr val="232A2E"/>
                          </a:solidFill>
                          <a:latin typeface="Calibri"/>
                        </a:rPr>
                        <a:t>0,253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>
                          <a:solidFill>
                            <a:srgbClr val="232A2E"/>
                          </a:solidFill>
                          <a:latin typeface="Calibri"/>
                        </a:rPr>
                        <a:t>0,880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>
                          <a:solidFill>
                            <a:srgbClr val="232A2E"/>
                          </a:solidFill>
                          <a:latin typeface="Calibri"/>
                        </a:rPr>
                        <a:t>0,393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1">
                          <a:solidFill>
                            <a:srgbClr val="232A2E"/>
                          </a:solidFill>
                          <a:latin typeface="Calibri"/>
                        </a:rPr>
                        <a:t>B — Gargalo estreito</a:t>
                      </a:r>
                    </a:p>
                  </a:txBody>
                  <a:tcPr marL="82296" marR="64008" marT="27432" marB="27432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>
                          <a:solidFill>
                            <a:srgbClr val="232A2E"/>
                          </a:solidFill>
                          <a:latin typeface="Calibri"/>
                        </a:rPr>
                        <a:t>janela 50 - latente 8 - encoder (64,32)</a:t>
                      </a:r>
                    </a:p>
                  </a:txBody>
                  <a:tcPr marL="82296" marR="64008" marT="27432" marB="27432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>
                          <a:solidFill>
                            <a:srgbClr val="232A2E"/>
                          </a:solidFill>
                          <a:latin typeface="Calibri"/>
                        </a:rPr>
                        <a:t>249.908</a:t>
                      </a:r>
                    </a:p>
                  </a:txBody>
                  <a:tcPr marL="82296" marR="64008" marT="27432" marB="27432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>
                          <a:solidFill>
                            <a:srgbClr val="232A2E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82296" marR="64008" marT="27432" marB="27432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>
                          <a:solidFill>
                            <a:srgbClr val="232A2E"/>
                          </a:solidFill>
                          <a:latin typeface="Calibri"/>
                        </a:rPr>
                        <a:t>0,2090</a:t>
                      </a:r>
                    </a:p>
                  </a:txBody>
                  <a:tcPr marL="82296" marR="64008" marT="27432" marB="27432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>
                          <a:solidFill>
                            <a:srgbClr val="232A2E"/>
                          </a:solidFill>
                          <a:latin typeface="Calibri"/>
                        </a:rPr>
                        <a:t>0,236</a:t>
                      </a:r>
                    </a:p>
                  </a:txBody>
                  <a:tcPr marL="82296" marR="64008" marT="27432" marB="27432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>
                          <a:solidFill>
                            <a:srgbClr val="232A2E"/>
                          </a:solidFill>
                          <a:latin typeface="Calibri"/>
                        </a:rPr>
                        <a:t>0,897</a:t>
                      </a:r>
                    </a:p>
                  </a:txBody>
                  <a:tcPr marL="82296" marR="64008" marT="27432" marB="27432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>
                          <a:solidFill>
                            <a:srgbClr val="232A2E"/>
                          </a:solidFill>
                          <a:latin typeface="Calibri"/>
                        </a:rPr>
                        <a:t>0,374</a:t>
                      </a:r>
                    </a:p>
                  </a:txBody>
                  <a:tcPr marL="82296" marR="64008" marT="27432" marB="27432" anchor="ctr">
                    <a:solidFill>
                      <a:srgbClr val="EAF1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1">
                          <a:solidFill>
                            <a:srgbClr val="232A2E"/>
                          </a:solidFill>
                          <a:latin typeface="Calibri"/>
                        </a:rPr>
                        <a:t>C — Janela longa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>
                          <a:solidFill>
                            <a:srgbClr val="232A2E"/>
                          </a:solidFill>
                          <a:latin typeface="Calibri"/>
                        </a:rPr>
                        <a:t>janela 100 - latente 16 - encoder (64,32)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>
                          <a:solidFill>
                            <a:srgbClr val="232A2E"/>
                          </a:solidFill>
                          <a:latin typeface="Calibri"/>
                        </a:rPr>
                        <a:t>495.528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>
                          <a:solidFill>
                            <a:srgbClr val="232A2E"/>
                          </a:solidFill>
                          <a:latin typeface="Calibri"/>
                        </a:rPr>
                        <a:t>63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>
                          <a:solidFill>
                            <a:srgbClr val="232A2E"/>
                          </a:solidFill>
                          <a:latin typeface="Calibri"/>
                        </a:rPr>
                        <a:t>0,2048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>
                          <a:solidFill>
                            <a:srgbClr val="232A2E"/>
                          </a:solidFill>
                          <a:latin typeface="Calibri"/>
                        </a:rPr>
                        <a:t>0,275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>
                          <a:solidFill>
                            <a:srgbClr val="232A2E"/>
                          </a:solidFill>
                          <a:latin typeface="Calibri"/>
                        </a:rPr>
                        <a:t>0,964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>
                          <a:solidFill>
                            <a:srgbClr val="232A2E"/>
                          </a:solidFill>
                          <a:latin typeface="Calibri"/>
                        </a:rPr>
                        <a:t>0,427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1">
                          <a:solidFill>
                            <a:srgbClr val="232A2E"/>
                          </a:solidFill>
                          <a:latin typeface="Calibri"/>
                        </a:rPr>
                        <a:t>D — Maior capacidade</a:t>
                      </a:r>
                    </a:p>
                  </a:txBody>
                  <a:tcPr marL="82296" marR="64008" marT="27432" marB="27432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>
                          <a:solidFill>
                            <a:srgbClr val="232A2E"/>
                          </a:solidFill>
                          <a:latin typeface="Calibri"/>
                        </a:rPr>
                        <a:t>janela 50 - latente 32 - encoder (128,64)</a:t>
                      </a:r>
                    </a:p>
                  </a:txBody>
                  <a:tcPr marL="82296" marR="64008" marT="27432" marB="27432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>
                          <a:solidFill>
                            <a:srgbClr val="232A2E"/>
                          </a:solidFill>
                          <a:latin typeface="Calibri"/>
                        </a:rPr>
                        <a:t>509.196</a:t>
                      </a:r>
                    </a:p>
                  </a:txBody>
                  <a:tcPr marL="82296" marR="64008" marT="27432" marB="27432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>
                          <a:solidFill>
                            <a:srgbClr val="232A2E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82296" marR="64008" marT="27432" marB="27432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>
                          <a:solidFill>
                            <a:srgbClr val="232A2E"/>
                          </a:solidFill>
                          <a:latin typeface="Calibri"/>
                        </a:rPr>
                        <a:t>0,1572</a:t>
                      </a:r>
                    </a:p>
                  </a:txBody>
                  <a:tcPr marL="82296" marR="64008" marT="27432" marB="27432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>
                          <a:solidFill>
                            <a:srgbClr val="232A2E"/>
                          </a:solidFill>
                          <a:latin typeface="Calibri"/>
                        </a:rPr>
                        <a:t>0,241</a:t>
                      </a:r>
                    </a:p>
                  </a:txBody>
                  <a:tcPr marL="82296" marR="64008" marT="27432" marB="27432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>
                          <a:solidFill>
                            <a:srgbClr val="232A2E"/>
                          </a:solidFill>
                          <a:latin typeface="Calibri"/>
                        </a:rPr>
                        <a:t>0,928</a:t>
                      </a:r>
                    </a:p>
                  </a:txBody>
                  <a:tcPr marL="82296" marR="64008" marT="27432" marB="27432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>
                          <a:solidFill>
                            <a:srgbClr val="232A2E"/>
                          </a:solidFill>
                          <a:latin typeface="Calibri"/>
                        </a:rPr>
                        <a:t>0,382</a:t>
                      </a:r>
                    </a:p>
                  </a:txBody>
                  <a:tcPr marL="82296" marR="64008" marT="27432" marB="27432" anchor="ctr">
                    <a:solidFill>
                      <a:srgbClr val="EAF1F5"/>
                    </a:solidFill>
                  </a:tcPr>
                </a:tc>
              </a:tr>
            </a:tbl>
          </a:graphicData>
        </a:graphic>
      </p:graphicFrame>
      <p:pic>
        <p:nvPicPr>
          <p:cNvPr id="22" name="Picture 21" descr="tradeoff_limi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517136"/>
            <a:ext cx="3025844" cy="1810512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3793940" y="4517136"/>
            <a:ext cx="7830827" cy="1810512"/>
          </a:xfrm>
          <a:prstGeom prst="rect">
            <a:avLst/>
          </a:prstGeom>
          <a:solidFill>
            <a:srgbClr val="EAF1F5"/>
          </a:solidFill>
          <a:ln w="9525">
            <a:solidFill>
              <a:srgbClr val="DC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793940" y="4517136"/>
            <a:ext cx="50292" cy="181051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13396" y="4636008"/>
            <a:ext cx="7410203" cy="1572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1250" b="1" i="0">
                <a:solidFill>
                  <a:srgbClr val="0F3A52"/>
                </a:solidFill>
                <a:latin typeface="Calibri"/>
              </a:rPr>
              <a:t>DOIS ACHADOS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 i="0">
                <a:solidFill>
                  <a:srgbClr val="232A2E"/>
                </a:solidFill>
                <a:latin typeface="Calibri"/>
              </a:rPr>
              <a:t>1.  Reconstruir melhor não é detectar melhor.  A config D teve o MENOR erro de validação (0,1572) e não lidera a detecção (F1 0,382); a C, com erro de validação pior (0,2048), tem o melhor F1 (0,427) e recall de 96,4%. Capacidade demais reconstrói bem até o que é anômalo — e isso reduz a separação.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 i="0">
                <a:solidFill>
                  <a:srgbClr val="232A2E"/>
                </a:solidFill>
                <a:latin typeface="Calibri"/>
              </a:rPr>
              <a:t>2.  O limiar move mais que a arquitetura.  Entre as quatro configurações o F1 varia 0,054; mexendo só no percentil, na MESMA configuração, varia 0,177 — mais que o triplo. A precisão vai de 25,3% a 83,3%, pagando com recall (88,0% → 43,3%).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1" i="0">
                <a:solidFill>
                  <a:srgbClr val="232A2E"/>
                </a:solidFill>
                <a:latin typeface="Calibri"/>
              </a:rPr>
              <a:t>Consequência: calibrar o limiar ao custo do alerta é a decisão de maior impacto — e é exatamente a decisão que o RF-06 entrega ao Coordenador.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C6C8F"/>
                </a:solidFill>
                <a:latin typeface="Calibri"/>
              </a:rPr>
              <a:t>TESTES · UNITTEST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3A52"/>
                </a:solidFill>
                <a:latin typeface="Calibri"/>
              </a:rPr>
              <a:t>Testes automatizados e evidências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97864"/>
            <a:ext cx="1051560" cy="41148"/>
          </a:xfrm>
          <a:prstGeom prst="rect">
            <a:avLst/>
          </a:prstGeom>
          <a:solidFill>
            <a:srgbClr val="C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780"/>
                </a:solidFill>
                <a:latin typeface="Calibri"/>
              </a:rPr>
              <a:t>Detector de Anomalias em Métricas de Servidores (SMD)  |  Grupo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2823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780"/>
                </a:solidFill>
                <a:latin typeface="Calibri"/>
              </a:rPr>
              <a:t>12/13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81328"/>
            <a:ext cx="6720840" cy="3290925"/>
          </a:xfrm>
          <a:prstGeom prst="rect">
            <a:avLst/>
          </a:prstGeom>
          <a:solidFill>
            <a:srgbClr val="142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591056"/>
            <a:ext cx="6428232" cy="31080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7FA3B0"/>
                </a:solidFill>
                <a:latin typeface="Consolas"/>
              </a:rPr>
              <a:t># tests/test_preprocessing.py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4EBEF"/>
                </a:solidFill>
                <a:latin typeface="Consolas"/>
              </a:rPr>
              <a:t>class TestPreprocessing(unittest.TestCase):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0B860"/>
                </a:solidFill>
                <a:latin typeface="Consolas"/>
              </a:rPr>
              <a:t>    def test_standardize_mean(self):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7FA3B0"/>
                </a:solidFill>
                <a:latin typeface="Consolas"/>
              </a:rPr>
              <a:t>        """A media de cada feature deve ser aprox. zero."""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4EBEF"/>
                </a:solidFill>
                <a:latin typeface="Consolas"/>
              </a:rPr>
              <a:t>        X_std, _, _ = standardize(self.X)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4EBEF"/>
                </a:solidFill>
                <a:latin typeface="Consolas"/>
              </a:rPr>
              <a:t>        np.testing.assert_allclose(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4EBEF"/>
                </a:solidFill>
                <a:latin typeface="Consolas"/>
              </a:rPr>
              <a:t>            np.mean(X_std, axis=0), np.zeros(38), atol=1e-10)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4EBEF"/>
                </a:solidFill>
                <a:latin typeface="Consolas"/>
              </a:rPr>
              <a:t> 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7FA3B0"/>
                </a:solidFill>
                <a:latin typeface="Consolas"/>
              </a:rPr>
              <a:t># tests/test_model.py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0B860"/>
                </a:solidFill>
                <a:latin typeface="Consolas"/>
              </a:rPr>
              <a:t>    def test_model_output_shape(self):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7FA3B0"/>
                </a:solidFill>
                <a:latin typeface="Consolas"/>
              </a:rPr>
              <a:t>        """A saida deve ter o mesmo shape da entrada."""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4EBEF"/>
                </a:solidFill>
                <a:latin typeface="Consolas"/>
              </a:rPr>
              <a:t>        output = self.model(self.x)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4EBEF"/>
                </a:solidFill>
                <a:latin typeface="Consolas"/>
              </a:rPr>
              <a:t>        self.assertEqual(output.shape, self.x.shape)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4EBEF"/>
                </a:solidFill>
                <a:latin typeface="Consolas"/>
              </a:rPr>
              <a:t> 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0B860"/>
                </a:solidFill>
                <a:latin typeface="Consolas"/>
              </a:rPr>
              <a:t>    def test_load_model_restores_weights(self):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7FA3B0"/>
                </a:solidFill>
                <a:latin typeface="Consolas"/>
              </a:rPr>
              <a:t>        """load_model restaura pesos identicos aos salvos."""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4EBEF"/>
                </a:solidFill>
                <a:latin typeface="Consolas"/>
              </a:rPr>
              <a:t>        save_model(self.model, self.caminho)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4EBEF"/>
                </a:solidFill>
                <a:latin typeface="Consolas"/>
              </a:rPr>
              <a:t>        restaurado = load_model(create_model(38), self.caminho)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4936845"/>
            <a:ext cx="6720840" cy="1368552"/>
          </a:xfrm>
          <a:prstGeom prst="rect">
            <a:avLst/>
          </a:prstGeom>
          <a:solidFill>
            <a:srgbClr val="142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5046573"/>
            <a:ext cx="6428232" cy="11856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E4EBEF"/>
                </a:solidFill>
                <a:latin typeface="Consolas"/>
              </a:rPr>
              <a:t>$ python -m unittest discover -s tests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E4EBEF"/>
                </a:solidFill>
                <a:latin typeface="Consolas"/>
              </a:rPr>
              <a:t>test_standardize_mean ...................... ok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E4EBEF"/>
                </a:solidFill>
                <a:latin typeface="Consolas"/>
              </a:rPr>
              <a:t>test_model_output_shape .................... ok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E4EBEF"/>
                </a:solidFill>
                <a:latin typeface="Consolas"/>
              </a:rPr>
              <a:t>test_load_model_restores_weights ........... ok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E4EBEF"/>
                </a:solidFill>
                <a:latin typeface="Consolas"/>
              </a:rPr>
              <a:t>--------------------------------------------------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0B860"/>
                </a:solidFill>
                <a:latin typeface="Consolas"/>
              </a:rPr>
              <a:t>Ran 13 tests in 0.453s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0B860"/>
                </a:solidFill>
                <a:latin typeface="Consolas"/>
              </a:rPr>
              <a:t>OK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5512" y="1481328"/>
            <a:ext cx="4099255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25512" y="1481328"/>
            <a:ext cx="50292" cy="4846320"/>
          </a:xfrm>
          <a:prstGeom prst="rect">
            <a:avLst/>
          </a:prstGeom>
          <a:solidFill>
            <a:srgbClr val="C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1627632"/>
            <a:ext cx="36786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C6C8F"/>
                </a:solidFill>
                <a:latin typeface="Calibri"/>
              </a:rPr>
              <a:t>O QUE A SUÍTE COBRE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1901952"/>
            <a:ext cx="3678631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1" i="0">
                <a:solidFill>
                  <a:srgbClr val="0F3A52"/>
                </a:solidFill>
                <a:latin typeface="Calibri"/>
              </a:rPr>
              <a:t>test_data.py — 3 testes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232A2E"/>
                </a:solidFill>
                <a:latin typeface="Calibri"/>
              </a:rPr>
              <a:t>Carregamento devolve DataFrame com 38 colunas · limpeza remove NaN sem alterar colunas · caminho inexistente levanta FileNotFoundError.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1" i="0">
                <a:solidFill>
                  <a:srgbClr val="0F3A52"/>
                </a:solidFill>
                <a:latin typeface="Calibri"/>
              </a:rPr>
              <a:t>test_preprocessing.py — 4 testes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232A2E"/>
                </a:solidFill>
                <a:latin typeface="Calibri"/>
              </a:rPr>
              <a:t>Padronização preserva o shape · média resultante ≈ 0 · desvio ≈ 1 · split respeita as proporções e a ordem.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1" i="0">
                <a:solidFill>
                  <a:srgbClr val="0F3A52"/>
                </a:solidFill>
                <a:latin typeface="Calibri"/>
              </a:rPr>
              <a:t>test_model.py — 4 testes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232A2E"/>
                </a:solidFill>
                <a:latin typeface="Calibri"/>
              </a:rPr>
              <a:t>Saída do modelo tem o shape da entrada · saída é finita (sem NaN/Inf) · save_model cria o arquivo · load_model restaura os pesos idênticos.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1" i="0">
                <a:solidFill>
                  <a:srgbClr val="0F3A52"/>
                </a:solidFill>
                <a:latin typeface="Calibri"/>
              </a:rPr>
              <a:t>test_training.py — 2 testes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232A2E"/>
                </a:solidFill>
                <a:latin typeface="Calibri"/>
              </a:rPr>
              <a:t>Tensores do DataLoader têm shape (batch, 50, 38) · e dtype float32.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1" i="0">
                <a:solidFill>
                  <a:srgbClr val="C8862A"/>
                </a:solidFill>
                <a:latin typeface="Calibri"/>
              </a:rPr>
              <a:t>Por que estes testes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232A2E"/>
                </a:solidFill>
                <a:latin typeface="Calibri"/>
              </a:rPr>
              <a:t>São as fronteiras entre os módulos — shape, dtype e contrato de entrada/saída. É onde a integração quebra silenciosamente quando alguém muda um módulo sem avisar o outro.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C6C8F"/>
                </a:solidFill>
                <a:latin typeface="Calibri"/>
              </a:rPr>
              <a:t>EXPERIMENTOS · O QUE FICOU DE PÉ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3A52"/>
                </a:solidFill>
                <a:latin typeface="Calibri"/>
              </a:rPr>
              <a:t>Resultados, conclusão e limitações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97864"/>
            <a:ext cx="1051560" cy="41148"/>
          </a:xfrm>
          <a:prstGeom prst="rect">
            <a:avLst/>
          </a:prstGeom>
          <a:solidFill>
            <a:srgbClr val="C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780"/>
                </a:solidFill>
                <a:latin typeface="Calibri"/>
              </a:rPr>
              <a:t>Detector de Anomalias em Métricas de Servidores (SMD)  |  Grupo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2823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780"/>
                </a:solidFill>
                <a:latin typeface="Calibri"/>
              </a:rPr>
              <a:t>13/13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C6C8F"/>
                </a:solidFill>
                <a:latin typeface="Calibri"/>
              </a:rPr>
              <a:t>TREINAMENTO — erro por época</a:t>
            </a:r>
          </a:p>
        </p:txBody>
      </p:sp>
      <p:pic>
        <p:nvPicPr>
          <p:cNvPr id="9" name="Picture 8" descr="curva_trei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19072"/>
            <a:ext cx="3667301" cy="19933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453685" y="1481328"/>
            <a:ext cx="4937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C6C8F"/>
                </a:solidFill>
                <a:latin typeface="Calibri"/>
              </a:rPr>
              <a:t>TESTE — erro por janela, limiar e anomalias reais</a:t>
            </a:r>
          </a:p>
        </p:txBody>
      </p:sp>
      <p:pic>
        <p:nvPicPr>
          <p:cNvPr id="11" name="Picture 10" descr="erro_no_tes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685" y="1719072"/>
            <a:ext cx="5088287" cy="199339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66928" y="3895344"/>
            <a:ext cx="213055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895344"/>
            <a:ext cx="50292" cy="713232"/>
          </a:xfrm>
          <a:prstGeom prst="rect">
            <a:avLst/>
          </a:prstGeom>
          <a:solidFill>
            <a:srgbClr val="0F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995928"/>
            <a:ext cx="18013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6B7780"/>
                </a:solidFill>
                <a:latin typeface="Calibri"/>
              </a:rPr>
              <a:t>ERRO DE VALIDAÇÃO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206240"/>
            <a:ext cx="1801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F3A52"/>
                </a:solidFill>
                <a:latin typeface="Calibri"/>
              </a:rPr>
              <a:t>0,1896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98064" y="3895344"/>
            <a:ext cx="213055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98064" y="3895344"/>
            <a:ext cx="50292" cy="713232"/>
          </a:xfrm>
          <a:prstGeom prst="rect">
            <a:avLst/>
          </a:prstGeom>
          <a:solidFill>
            <a:srgbClr val="0F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80944" y="3995928"/>
            <a:ext cx="18013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6B7780"/>
                </a:solidFill>
                <a:latin typeface="Calibri"/>
              </a:rPr>
              <a:t>ÉPOCAS / MELHOR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80944" y="4206240"/>
            <a:ext cx="1801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F3A52"/>
                </a:solidFill>
                <a:latin typeface="Calibri"/>
              </a:rPr>
              <a:t>71 / 61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3895344"/>
            <a:ext cx="213055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3895344"/>
            <a:ext cx="50292" cy="713232"/>
          </a:xfrm>
          <a:prstGeom prst="rect">
            <a:avLst/>
          </a:prstGeom>
          <a:solidFill>
            <a:srgbClr val="0F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0" y="3995928"/>
            <a:ext cx="18013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6B7780"/>
                </a:solidFill>
                <a:latin typeface="Calibri"/>
              </a:rPr>
              <a:t>LIMIAR (p99,5)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4206240"/>
            <a:ext cx="1801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F3A52"/>
                </a:solidFill>
                <a:latin typeface="Calibri"/>
              </a:rPr>
              <a:t>1,379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0336" y="3895344"/>
            <a:ext cx="213055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60336" y="3895344"/>
            <a:ext cx="50292" cy="713232"/>
          </a:xfrm>
          <a:prstGeom prst="rect">
            <a:avLst/>
          </a:prstGeom>
          <a:solidFill>
            <a:srgbClr val="0F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43216" y="3995928"/>
            <a:ext cx="18013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6B7780"/>
                </a:solidFill>
                <a:latin typeface="Calibri"/>
              </a:rPr>
              <a:t>PRECISÃO · RECALL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3216" y="4206240"/>
            <a:ext cx="1801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F3A52"/>
                </a:solidFill>
                <a:latin typeface="Calibri"/>
              </a:rPr>
              <a:t>25,3% · 88,0%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91472" y="3895344"/>
            <a:ext cx="213055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491472" y="3895344"/>
            <a:ext cx="50292" cy="7132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74352" y="3995928"/>
            <a:ext cx="18013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6B7780"/>
                </a:solidFill>
                <a:latin typeface="Calibri"/>
              </a:rPr>
              <a:t>CRITÉRIO DE ACEITAÇÃO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74352" y="4206240"/>
            <a:ext cx="1801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5B"/>
                </a:solidFill>
                <a:latin typeface="Calibri"/>
              </a:rPr>
              <a:t>ATENDIDO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754880"/>
            <a:ext cx="356616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4754880"/>
            <a:ext cx="50292" cy="1572768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" y="4873752"/>
            <a:ext cx="318211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E7D5B"/>
                </a:solidFill>
                <a:latin typeface="Calibri"/>
              </a:rPr>
              <a:t>RESOLVEU O PROBLEMA?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" y="5138928"/>
            <a:ext cx="3182112" cy="1069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232A2E"/>
                </a:solidFill>
                <a:latin typeface="Calibri"/>
              </a:rPr>
              <a:t>· Sim, como maquete funcional: o pipeline roda ponta a ponta e o critério de aceitação é atendido.</a:t>
            </a:r>
          </a:p>
          <a:p>
            <a:pPr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232A2E"/>
                </a:solidFill>
                <a:latin typeface="Calibri"/>
              </a:rPr>
              <a:t>· 5 dos 7 RF atendidos; 2 parciais; 1 é do sistema-alvo.</a:t>
            </a:r>
          </a:p>
          <a:p>
            <a:pPr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232A2E"/>
                </a:solidFill>
                <a:latin typeface="Calibri"/>
              </a:rPr>
              <a:t>· 3 dos 4 RNF verificados com número medido.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15968" y="4754880"/>
            <a:ext cx="356616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15968" y="4754880"/>
            <a:ext cx="50292" cy="1572768"/>
          </a:xfrm>
          <a:prstGeom prst="rect">
            <a:avLst/>
          </a:prstGeom>
          <a:solidFill>
            <a:srgbClr val="A84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17136" y="4873752"/>
            <a:ext cx="318211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8442C"/>
                </a:solidFill>
                <a:latin typeface="Calibri"/>
              </a:rPr>
              <a:t>LIMITAÇÕES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17136" y="5138928"/>
            <a:ext cx="3182112" cy="1069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232A2E"/>
                </a:solidFill>
                <a:latin typeface="Calibri"/>
              </a:rPr>
              <a:t>· Erro agregado por janela, não por métrica — trava RF-03 e RNF-02.</a:t>
            </a:r>
          </a:p>
          <a:p>
            <a:pPr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232A2E"/>
                </a:solidFill>
                <a:latin typeface="Calibri"/>
              </a:rPr>
              <a:t>· Validado só na machine-1-1, com janela de 50.</a:t>
            </a:r>
          </a:p>
          <a:p>
            <a:pPr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232A2E"/>
                </a:solidFill>
                <a:latin typeface="Calibri"/>
              </a:rPr>
              <a:t>· O baseline de limiar por métrica nunca foi medido: o ganho do ML está argumentado, não provado.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65008" y="4754880"/>
            <a:ext cx="356616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65008" y="4754880"/>
            <a:ext cx="50292" cy="1572768"/>
          </a:xfrm>
          <a:prstGeom prst="rect">
            <a:avLst/>
          </a:prstGeom>
          <a:solidFill>
            <a:srgbClr val="0F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66176" y="4873752"/>
            <a:ext cx="318211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3A52"/>
                </a:solidFill>
                <a:latin typeface="Calibri"/>
              </a:rPr>
              <a:t>PRÓXIMOS PASSOS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66176" y="5138928"/>
            <a:ext cx="3182112" cy="1069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232A2E"/>
                </a:solidFill>
                <a:latin typeface="Calibri"/>
              </a:rPr>
              <a:t>· 1. Decompor o erro por dimensão — destrava RF-03/RNF-02 e é mudança localizada.</a:t>
            </a:r>
          </a:p>
          <a:p>
            <a:pPr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232A2E"/>
                </a:solidFill>
                <a:latin typeface="Calibri"/>
              </a:rPr>
              <a:t>· 2. Medir o baseline de limiar fixo, para comprovar (ou não) o ganho do modelo.</a:t>
            </a:r>
          </a:p>
          <a:p>
            <a:pPr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232A2E"/>
                </a:solidFill>
                <a:latin typeface="Calibri"/>
              </a:rPr>
              <a:t>· 3. Testar LSTM-autoencoder e estender às 28 máquinas.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